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922" y="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smtClean="0"/>
              <a:pPr/>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690435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smtClean="0"/>
              <a:pPr/>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1152912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E36636D-D922-432D-A958-524484B5923D}" type="datetimeFigureOut">
              <a:rPr lang="en-US" smtClean="0"/>
              <a:pPr/>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2250417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8E36636D-D922-432D-A958-524484B5923D}" type="datetimeFigureOut">
              <a:rPr lang="en-US" smtClean="0"/>
              <a:pPr/>
              <a:t>7/4/2026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606394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E36636D-D922-432D-A958-524484B5923D}" type="datetimeFigureOut">
              <a:rPr lang="en-US" smtClean="0"/>
              <a:pPr/>
              <a:t>7/4/2026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1752702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E36636D-D922-432D-A958-524484B5923D}" type="datetimeFigureOut">
              <a:rPr lang="en-US" smtClean="0"/>
              <a:pPr/>
              <a:t>7/4/2026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2942938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36636D-D922-432D-A958-524484B5923D}" type="datetimeFigureOut">
              <a:rPr lang="en-US" smtClean="0"/>
              <a:pPr/>
              <a:t>7/4/2026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3956425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smtClean="0"/>
              <a:pPr/>
              <a:t>7/4/2026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299951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smtClean="0"/>
              <a:pPr/>
              <a:t>7/4/2026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1695655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E36636D-D922-432D-A958-524484B5923D}" type="datetimeFigureOut">
              <a:rPr lang="en-US" smtClean="0"/>
              <a:pPr/>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1908466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E36636D-D922-432D-A958-524484B5923D}" type="datetimeFigureOut">
              <a:rPr lang="en-US" smtClean="0"/>
              <a:pPr/>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360831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E36636D-D922-432D-A958-524484B5923D}" type="datetimeFigureOut">
              <a:rPr lang="en-US" smtClean="0"/>
              <a:pPr/>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42935605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E36636D-D922-432D-A958-524484B5923D}" type="datetimeFigureOut">
              <a:rPr lang="en-US" smtClean="0"/>
              <a:pPr/>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390594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E36636D-D922-432D-A958-524484B5923D}" type="datetimeFigureOut">
              <a:rPr lang="en-US" smtClean="0"/>
              <a:pPr/>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22943187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smtClean="0"/>
              <a:pPr/>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34501950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smtClean="0"/>
              <a:pPr/>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224262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E36636D-D922-432D-A958-524484B5923D}" type="datetimeFigureOut">
              <a:rPr lang="en-US" smtClean="0"/>
              <a:pPr/>
              <a:t>7/4/2026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3744730899"/>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 id="2147483866" r:id="rId6"/>
    <p:sldLayoutId id="2147483867" r:id="rId7"/>
    <p:sldLayoutId id="2147483868" r:id="rId8"/>
    <p:sldLayoutId id="2147483869" r:id="rId9"/>
    <p:sldLayoutId id="2147483870" r:id="rId10"/>
    <p:sldLayoutId id="2147483871" r:id="rId11"/>
    <p:sldLayoutId id="2147483872" r:id="rId12"/>
    <p:sldLayoutId id="2147483873" r:id="rId13"/>
    <p:sldLayoutId id="2147483874" r:id="rId14"/>
    <p:sldLayoutId id="2147483875" r:id="rId15"/>
    <p:sldLayoutId id="21474838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CD5C3-B1F0-3EED-7060-024093EF1CC7}"/>
              </a:ext>
            </a:extLst>
          </p:cNvPr>
          <p:cNvSpPr>
            <a:spLocks noGrp="1"/>
          </p:cNvSpPr>
          <p:nvPr>
            <p:ph type="ctrTitle"/>
          </p:nvPr>
        </p:nvSpPr>
        <p:spPr>
          <a:xfrm>
            <a:off x="1726142" y="2395009"/>
            <a:ext cx="7766936" cy="1646302"/>
          </a:xfrm>
        </p:spPr>
        <p:txBody>
          <a:bodyPr/>
          <a:lstStyle/>
          <a:p>
            <a:pPr algn="ctr"/>
            <a:r>
              <a:rPr lang="en-US" dirty="0">
                <a:solidFill>
                  <a:schemeClr val="tx1"/>
                </a:solidFill>
                <a:latin typeface="Arial" panose="020B0604020202020204" pitchFamily="34" charset="0"/>
                <a:cs typeface="Arial" panose="020B0604020202020204" pitchFamily="34" charset="0"/>
              </a:rPr>
              <a:t>Project Name:</a:t>
            </a:r>
            <a:br>
              <a:rPr lang="en-US" dirty="0">
                <a:solidFill>
                  <a:schemeClr val="tx1"/>
                </a:solidFill>
                <a:latin typeface="Arial" panose="020B0604020202020204" pitchFamily="34" charset="0"/>
                <a:cs typeface="Arial" panose="020B0604020202020204" pitchFamily="34" charset="0"/>
              </a:rPr>
            </a:br>
            <a:r>
              <a:rPr lang="en-US" b="1" spc="600" dirty="0">
                <a:solidFill>
                  <a:schemeClr val="tx1"/>
                </a:solidFill>
                <a:latin typeface="Arial" panose="020B0604020202020204" pitchFamily="34" charset="0"/>
                <a:cs typeface="Arial" panose="020B0604020202020204" pitchFamily="34" charset="0"/>
              </a:rPr>
              <a:t>FIS Workspace</a:t>
            </a:r>
            <a:endParaRPr lang="en-IN" b="1" spc="600" dirty="0">
              <a:solidFill>
                <a:schemeClr val="tx1"/>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104070E3-9B10-D381-004B-58088A831424}"/>
              </a:ext>
            </a:extLst>
          </p:cNvPr>
          <p:cNvSpPr>
            <a:spLocks noGrp="1"/>
          </p:cNvSpPr>
          <p:nvPr>
            <p:ph type="subTitle" idx="1"/>
          </p:nvPr>
        </p:nvSpPr>
        <p:spPr>
          <a:xfrm>
            <a:off x="294368" y="5560489"/>
            <a:ext cx="3563257" cy="430735"/>
          </a:xfrm>
        </p:spPr>
        <p:txBody>
          <a:bodyPr/>
          <a:lstStyle/>
          <a:p>
            <a:r>
              <a:rPr lang="en-US" dirty="0">
                <a:latin typeface="Arial" panose="020B0604020202020204" pitchFamily="34" charset="0"/>
                <a:cs typeface="Arial" panose="020B0604020202020204" pitchFamily="34" charset="0"/>
              </a:rPr>
              <a:t>Prepared By: Akash Kumar</a:t>
            </a:r>
            <a:endParaRPr lang="en-IN" dirty="0">
              <a:latin typeface="Arial" panose="020B0604020202020204" pitchFamily="34" charset="0"/>
              <a:cs typeface="Arial" panose="020B0604020202020204" pitchFamily="34" charset="0"/>
            </a:endParaRPr>
          </a:p>
        </p:txBody>
      </p:sp>
      <p:sp>
        <p:nvSpPr>
          <p:cNvPr id="4" name="Subtitle 2">
            <a:extLst>
              <a:ext uri="{FF2B5EF4-FFF2-40B4-BE49-F238E27FC236}">
                <a16:creationId xmlns:a16="http://schemas.microsoft.com/office/drawing/2014/main" id="{AB2FC04C-53BA-34A4-ABB3-CBA9B9D6D880}"/>
              </a:ext>
            </a:extLst>
          </p:cNvPr>
          <p:cNvSpPr txBox="1">
            <a:spLocks/>
          </p:cNvSpPr>
          <p:nvPr/>
        </p:nvSpPr>
        <p:spPr>
          <a:xfrm>
            <a:off x="9829800" y="5560490"/>
            <a:ext cx="2209800" cy="430735"/>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0" indent="0" algn="ctr" defTabSz="457200" rtl="0" eaLnBrk="1" latinLnBrk="0" hangingPunct="1">
              <a:spcBef>
                <a:spcPct val="20000"/>
              </a:spcBef>
              <a:spcAft>
                <a:spcPts val="600"/>
              </a:spcAft>
              <a:buClr>
                <a:schemeClr val="tx2"/>
              </a:buClr>
              <a:buSzPct val="70000"/>
              <a:buFont typeface="Wingdings 2" charset="2"/>
              <a:buNone/>
              <a:defRPr sz="2000" kern="1200">
                <a:ln>
                  <a:solidFill>
                    <a:schemeClr val="bg1">
                      <a:lumMod val="75000"/>
                      <a:lumOff val="25000"/>
                      <a:alpha val="10000"/>
                    </a:schemeClr>
                  </a:solidFill>
                </a:ln>
                <a:solidFill>
                  <a:schemeClr val="tx1"/>
                </a:solidFill>
                <a:effectLst>
                  <a:outerShdw blurRad="9525" dist="25400" dir="14640000" algn="tl" rotWithShape="0">
                    <a:schemeClr val="bg1">
                      <a:alpha val="30000"/>
                    </a:schemeClr>
                  </a:outerShdw>
                </a:effectLst>
                <a:latin typeface="+mn-lt"/>
                <a:ea typeface="+mn-ea"/>
                <a:cs typeface="+mn-cs"/>
              </a:defRPr>
            </a:lvl1pPr>
            <a:lvl2pPr marL="457200" indent="0" algn="ctr" defTabSz="457200" rtl="0" eaLnBrk="1" latinLnBrk="0" hangingPunct="1">
              <a:spcBef>
                <a:spcPct val="20000"/>
              </a:spcBef>
              <a:spcAft>
                <a:spcPts val="600"/>
              </a:spcAft>
              <a:buClr>
                <a:schemeClr val="tx2"/>
              </a:buClr>
              <a:buSzPct val="70000"/>
              <a:buFont typeface="Wingdings 2" charset="2"/>
              <a:buNone/>
              <a:defRPr sz="18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2pPr>
            <a:lvl3pPr marL="914400" indent="0" algn="ctr" defTabSz="457200" rtl="0" eaLnBrk="1" latinLnBrk="0" hangingPunct="1">
              <a:spcBef>
                <a:spcPct val="20000"/>
              </a:spcBef>
              <a:spcAft>
                <a:spcPts val="600"/>
              </a:spcAft>
              <a:buClr>
                <a:schemeClr val="tx2"/>
              </a:buClr>
              <a:buSzPct val="70000"/>
              <a:buFont typeface="Wingdings 2" charset="2"/>
              <a:buNone/>
              <a:defRPr sz="16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3pPr>
            <a:lvl4pPr marL="1371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4pPr>
            <a:lvl5pPr marL="18288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5pPr>
            <a:lvl6pPr marL="22860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6pPr>
            <a:lvl7pPr marL="27432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7pPr>
            <a:lvl8pPr marL="32004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8pPr>
            <a:lvl9pPr marL="3657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9pPr>
          </a:lstStyle>
          <a:p>
            <a:r>
              <a:rPr lang="en-US" dirty="0">
                <a:latin typeface="Arial" panose="020B0604020202020204" pitchFamily="34" charset="0"/>
                <a:cs typeface="Arial" panose="020B0604020202020204" pitchFamily="34" charset="0"/>
              </a:rPr>
              <a:t>Date: 01</a:t>
            </a:r>
            <a:r>
              <a:rPr lang="en-US" baseline="30000" dirty="0">
                <a:latin typeface="Arial" panose="020B0604020202020204" pitchFamily="34" charset="0"/>
                <a:cs typeface="Arial" panose="020B0604020202020204" pitchFamily="34" charset="0"/>
              </a:rPr>
              <a:t>st</a:t>
            </a:r>
            <a:r>
              <a:rPr lang="en-US" dirty="0">
                <a:latin typeface="Arial" panose="020B0604020202020204" pitchFamily="34" charset="0"/>
                <a:cs typeface="Arial" panose="020B0604020202020204" pitchFamily="34" charset="0"/>
              </a:rPr>
              <a:t> July’26</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9185967"/>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8071E-6691-71AA-ECAE-643959F8A6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6901B6-A677-5D76-3BB1-CED6EB475B66}"/>
              </a:ext>
            </a:extLst>
          </p:cNvPr>
          <p:cNvSpPr>
            <a:spLocks noGrp="1"/>
          </p:cNvSpPr>
          <p:nvPr>
            <p:ph type="ctrTitle"/>
          </p:nvPr>
        </p:nvSpPr>
        <p:spPr>
          <a:xfrm>
            <a:off x="800099" y="350901"/>
            <a:ext cx="8582025" cy="830785"/>
          </a:xfrm>
        </p:spPr>
        <p:txBody>
          <a:bodyPr>
            <a:normAutofit fontScale="90000"/>
          </a:bodyPr>
          <a:lstStyle/>
          <a:p>
            <a:pPr algn="l"/>
            <a:r>
              <a:rPr lang="en-US" dirty="0">
                <a:solidFill>
                  <a:schemeClr val="tx1"/>
                </a:solidFill>
                <a:latin typeface="Arial" panose="020B0604020202020204" pitchFamily="34" charset="0"/>
                <a:cs typeface="Arial" panose="020B0604020202020204" pitchFamily="34" charset="0"/>
              </a:rPr>
              <a:t>Situation:</a:t>
            </a:r>
            <a:endParaRPr lang="en-IN" dirty="0">
              <a:solidFill>
                <a:schemeClr val="tx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33769E59-3C8B-B446-2951-B7BD0929FB3D}"/>
              </a:ext>
            </a:extLst>
          </p:cNvPr>
          <p:cNvSpPr>
            <a:spLocks noGrp="1"/>
          </p:cNvSpPr>
          <p:nvPr>
            <p:ph type="subTitle" idx="1"/>
          </p:nvPr>
        </p:nvSpPr>
        <p:spPr>
          <a:xfrm>
            <a:off x="800098" y="1288583"/>
            <a:ext cx="8820151" cy="4150192"/>
          </a:xfrm>
        </p:spPr>
        <p:txBody>
          <a:bodyPr/>
          <a:lstStyle/>
          <a:p>
            <a:pPr algn="l">
              <a:lnSpc>
                <a:spcPct val="150000"/>
              </a:lnSpc>
            </a:pPr>
            <a:r>
              <a:rPr lang="en-IN" sz="1200" dirty="0">
                <a:solidFill>
                  <a:schemeClr val="tx1"/>
                </a:solidFill>
                <a:latin typeface="Arial" panose="020B0604020202020204" pitchFamily="34" charset="0"/>
                <a:cs typeface="Arial" panose="020B0604020202020204" pitchFamily="34" charset="0"/>
              </a:rPr>
              <a:t>Before the COVID‑19 pandemic, </a:t>
            </a:r>
            <a:r>
              <a:rPr lang="en-IN" sz="1200" b="1" dirty="0">
                <a:solidFill>
                  <a:schemeClr val="tx1"/>
                </a:solidFill>
                <a:latin typeface="Arial" panose="020B0604020202020204" pitchFamily="34" charset="0"/>
                <a:cs typeface="Arial" panose="020B0604020202020204" pitchFamily="34" charset="0"/>
              </a:rPr>
              <a:t>Fidelity Information Services (FIS) India</a:t>
            </a:r>
            <a:r>
              <a:rPr lang="en-IN" sz="1200" dirty="0">
                <a:solidFill>
                  <a:schemeClr val="tx1"/>
                </a:solidFill>
                <a:latin typeface="Arial" panose="020B0604020202020204" pitchFamily="34" charset="0"/>
                <a:cs typeface="Arial" panose="020B0604020202020204" pitchFamily="34" charset="0"/>
              </a:rPr>
              <a:t> operated as a fully on‑site organization. Employees worked in multiple shifts to meet business needs, and the company maintained leased office space sized for </a:t>
            </a:r>
            <a:r>
              <a:rPr lang="en-IN" sz="1200" b="1" dirty="0">
                <a:solidFill>
                  <a:schemeClr val="tx1"/>
                </a:solidFill>
                <a:latin typeface="Arial" panose="020B0604020202020204" pitchFamily="34" charset="0"/>
                <a:cs typeface="Arial" panose="020B0604020202020204" pitchFamily="34" charset="0"/>
              </a:rPr>
              <a:t>about 4,000 on‑site employees</a:t>
            </a:r>
            <a:r>
              <a:rPr lang="en-IN" sz="1200" dirty="0">
                <a:solidFill>
                  <a:schemeClr val="tx1"/>
                </a:solidFill>
                <a:latin typeface="Arial" panose="020B0604020202020204" pitchFamily="34" charset="0"/>
                <a:cs typeface="Arial" panose="020B0604020202020204" pitchFamily="34" charset="0"/>
              </a:rPr>
              <a:t>.</a:t>
            </a:r>
          </a:p>
          <a:p>
            <a:pPr algn="l">
              <a:lnSpc>
                <a:spcPct val="150000"/>
              </a:lnSpc>
            </a:pPr>
            <a:r>
              <a:rPr lang="en-IN" sz="1200" dirty="0">
                <a:solidFill>
                  <a:schemeClr val="tx1"/>
                </a:solidFill>
                <a:latin typeface="Arial" panose="020B0604020202020204" pitchFamily="34" charset="0"/>
                <a:cs typeface="Arial" panose="020B0604020202020204" pitchFamily="34" charset="0"/>
              </a:rPr>
              <a:t>When the pandemic began, FIS shifted rapidly to </a:t>
            </a:r>
            <a:r>
              <a:rPr lang="en-IN" sz="1200" b="1" dirty="0">
                <a:solidFill>
                  <a:schemeClr val="tx1"/>
                </a:solidFill>
                <a:latin typeface="Arial" panose="020B0604020202020204" pitchFamily="34" charset="0"/>
                <a:cs typeface="Arial" panose="020B0604020202020204" pitchFamily="34" charset="0"/>
              </a:rPr>
              <a:t>work from home</a:t>
            </a:r>
            <a:r>
              <a:rPr lang="en-IN" sz="1200" dirty="0">
                <a:solidFill>
                  <a:schemeClr val="tx1"/>
                </a:solidFill>
                <a:latin typeface="Arial" panose="020B0604020202020204" pitchFamily="34" charset="0"/>
                <a:cs typeface="Arial" panose="020B0604020202020204" pitchFamily="34" charset="0"/>
              </a:rPr>
              <a:t>, halting normal in‑office operations. The sudden change created cash‑flow and working‑capital pressures across many organizations, including FIS, forcing a re‑evaluation of real‑estate and operating costs.</a:t>
            </a:r>
          </a:p>
          <a:p>
            <a:pPr algn="l">
              <a:lnSpc>
                <a:spcPct val="150000"/>
              </a:lnSpc>
            </a:pPr>
            <a:r>
              <a:rPr lang="en-IN" sz="1200" dirty="0">
                <a:solidFill>
                  <a:schemeClr val="tx1"/>
                </a:solidFill>
                <a:latin typeface="Arial" panose="020B0604020202020204" pitchFamily="34" charset="0"/>
                <a:cs typeface="Arial" panose="020B0604020202020204" pitchFamily="34" charset="0"/>
              </a:rPr>
              <a:t>To reduce costs and streamline operations, FIS moved to a </a:t>
            </a:r>
            <a:r>
              <a:rPr lang="en-IN" sz="1200" b="1" dirty="0">
                <a:solidFill>
                  <a:schemeClr val="tx1"/>
                </a:solidFill>
                <a:latin typeface="Arial" panose="020B0604020202020204" pitchFamily="34" charset="0"/>
                <a:cs typeface="Arial" panose="020B0604020202020204" pitchFamily="34" charset="0"/>
              </a:rPr>
              <a:t>hybrid working model</a:t>
            </a:r>
            <a:r>
              <a:rPr lang="en-IN" sz="1200" dirty="0">
                <a:solidFill>
                  <a:schemeClr val="tx1"/>
                </a:solidFill>
                <a:latin typeface="Arial" panose="020B0604020202020204" pitchFamily="34" charset="0"/>
                <a:cs typeface="Arial" panose="020B0604020202020204" pitchFamily="34" charset="0"/>
              </a:rPr>
              <a:t> nationwide. The company </a:t>
            </a:r>
            <a:r>
              <a:rPr lang="en-IN" sz="1200" b="1" dirty="0">
                <a:solidFill>
                  <a:schemeClr val="tx1"/>
                </a:solidFill>
                <a:latin typeface="Arial" panose="020B0604020202020204" pitchFamily="34" charset="0"/>
                <a:cs typeface="Arial" panose="020B0604020202020204" pitchFamily="34" charset="0"/>
              </a:rPr>
              <a:t>released leased workspace</a:t>
            </a:r>
            <a:r>
              <a:rPr lang="en-IN" sz="1200" dirty="0">
                <a:solidFill>
                  <a:schemeClr val="tx1"/>
                </a:solidFill>
                <a:latin typeface="Arial" panose="020B0604020202020204" pitchFamily="34" charset="0"/>
                <a:cs typeface="Arial" panose="020B0604020202020204" pitchFamily="34" charset="0"/>
              </a:rPr>
              <a:t> back to building owners and began outsourcing parts of its operations — moving some functions to </a:t>
            </a:r>
            <a:r>
              <a:rPr lang="en-IN" sz="1200" b="1" dirty="0">
                <a:solidFill>
                  <a:schemeClr val="tx1"/>
                </a:solidFill>
                <a:latin typeface="Arial" panose="020B0604020202020204" pitchFamily="34" charset="0"/>
                <a:cs typeface="Arial" panose="020B0604020202020204" pitchFamily="34" charset="0"/>
              </a:rPr>
              <a:t>Genpact</a:t>
            </a:r>
            <a:r>
              <a:rPr lang="en-IN" sz="1200" dirty="0">
                <a:solidFill>
                  <a:schemeClr val="tx1"/>
                </a:solidFill>
                <a:latin typeface="Arial" panose="020B0604020202020204" pitchFamily="34" charset="0"/>
                <a:cs typeface="Arial" panose="020B0604020202020204" pitchFamily="34" charset="0"/>
              </a:rPr>
              <a:t> and voice processes to </a:t>
            </a:r>
            <a:r>
              <a:rPr lang="en-IN" sz="1200" b="1" dirty="0">
                <a:solidFill>
                  <a:schemeClr val="tx1"/>
                </a:solidFill>
                <a:latin typeface="Arial" panose="020B0604020202020204" pitchFamily="34" charset="0"/>
                <a:cs typeface="Arial" panose="020B0604020202020204" pitchFamily="34" charset="0"/>
              </a:rPr>
              <a:t>Teleperformance</a:t>
            </a:r>
            <a:r>
              <a:rPr lang="en-IN" sz="1200" dirty="0">
                <a:solidFill>
                  <a:schemeClr val="tx1"/>
                </a:solidFill>
                <a:latin typeface="Arial" panose="020B0604020202020204" pitchFamily="34" charset="0"/>
                <a:cs typeface="Arial" panose="020B0604020202020204" pitchFamily="34" charset="0"/>
              </a:rPr>
              <a:t>. These changes reduced the number of employees who need permanent seats at FIS offices.</a:t>
            </a:r>
          </a:p>
          <a:p>
            <a:pPr algn="l">
              <a:lnSpc>
                <a:spcPct val="150000"/>
              </a:lnSpc>
            </a:pPr>
            <a:r>
              <a:rPr lang="en-IN" sz="1200" dirty="0">
                <a:solidFill>
                  <a:schemeClr val="tx1"/>
                </a:solidFill>
                <a:latin typeface="Arial" panose="020B0604020202020204" pitchFamily="34" charset="0"/>
                <a:cs typeface="Arial" panose="020B0604020202020204" pitchFamily="34" charset="0"/>
              </a:rPr>
              <a:t>After vaccinations rolled out, FIS set a new target for in‑office capacity: </a:t>
            </a:r>
            <a:r>
              <a:rPr lang="en-IN" sz="1200" b="1" dirty="0">
                <a:solidFill>
                  <a:schemeClr val="tx1"/>
                </a:solidFill>
                <a:latin typeface="Arial" panose="020B0604020202020204" pitchFamily="34" charset="0"/>
                <a:cs typeface="Arial" panose="020B0604020202020204" pitchFamily="34" charset="0"/>
              </a:rPr>
              <a:t>no more than 700 seats</a:t>
            </a:r>
            <a:r>
              <a:rPr lang="en-IN" sz="1200" dirty="0">
                <a:solidFill>
                  <a:schemeClr val="tx1"/>
                </a:solidFill>
                <a:latin typeface="Arial" panose="020B0604020202020204" pitchFamily="34" charset="0"/>
                <a:cs typeface="Arial" panose="020B0604020202020204" pitchFamily="34" charset="0"/>
              </a:rPr>
              <a:t>. The goal is to maintain a lean physical footprint to </a:t>
            </a:r>
            <a:r>
              <a:rPr lang="en-IN" sz="1200" b="1" dirty="0">
                <a:solidFill>
                  <a:schemeClr val="tx1"/>
                </a:solidFill>
                <a:latin typeface="Arial" panose="020B0604020202020204" pitchFamily="34" charset="0"/>
                <a:cs typeface="Arial" panose="020B0604020202020204" pitchFamily="34" charset="0"/>
              </a:rPr>
              <a:t>cut lease and operating expenses</a:t>
            </a:r>
            <a:r>
              <a:rPr lang="en-IN" sz="1200" dirty="0">
                <a:solidFill>
                  <a:schemeClr val="tx1"/>
                </a:solidFill>
                <a:latin typeface="Arial" panose="020B0604020202020204" pitchFamily="34" charset="0"/>
                <a:cs typeface="Arial" panose="020B0604020202020204" pitchFamily="34" charset="0"/>
              </a:rPr>
              <a:t> while supporting hybrid work and outsourced operations.</a:t>
            </a:r>
          </a:p>
          <a:p>
            <a:pPr algn="l">
              <a:lnSpc>
                <a:spcPct val="150000"/>
              </a:lnSpc>
            </a:pPr>
            <a:endParaRPr lang="en-IN"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03246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FCC4B-7E61-2B54-732D-5F470CCDF4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FC8124-D917-7331-9F10-88E8F136E1A3}"/>
              </a:ext>
            </a:extLst>
          </p:cNvPr>
          <p:cNvSpPr>
            <a:spLocks noGrp="1"/>
          </p:cNvSpPr>
          <p:nvPr>
            <p:ph type="ctrTitle"/>
          </p:nvPr>
        </p:nvSpPr>
        <p:spPr>
          <a:xfrm>
            <a:off x="800099" y="350901"/>
            <a:ext cx="8582025" cy="830785"/>
          </a:xfrm>
        </p:spPr>
        <p:txBody>
          <a:bodyPr>
            <a:normAutofit fontScale="90000"/>
          </a:bodyPr>
          <a:lstStyle/>
          <a:p>
            <a:pPr algn="l"/>
            <a:r>
              <a:rPr lang="en-US" dirty="0">
                <a:solidFill>
                  <a:schemeClr val="tx1"/>
                </a:solidFill>
                <a:latin typeface="Arial" panose="020B0604020202020204" pitchFamily="34" charset="0"/>
                <a:cs typeface="Arial" panose="020B0604020202020204" pitchFamily="34" charset="0"/>
              </a:rPr>
              <a:t>Problem:</a:t>
            </a:r>
            <a:endParaRPr lang="en-IN" dirty="0">
              <a:solidFill>
                <a:schemeClr val="tx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AB7AD9E2-4D73-D2AE-A0FF-BC81B1C97B53}"/>
              </a:ext>
            </a:extLst>
          </p:cNvPr>
          <p:cNvSpPr>
            <a:spLocks noGrp="1"/>
          </p:cNvSpPr>
          <p:nvPr>
            <p:ph type="subTitle" idx="1"/>
          </p:nvPr>
        </p:nvSpPr>
        <p:spPr>
          <a:xfrm>
            <a:off x="800098" y="1288583"/>
            <a:ext cx="8820151" cy="4784226"/>
          </a:xfrm>
        </p:spPr>
        <p:txBody>
          <a:bodyPr>
            <a:normAutofit/>
          </a:bodyPr>
          <a:lstStyle/>
          <a:p>
            <a:pPr algn="l">
              <a:lnSpc>
                <a:spcPct val="150000"/>
              </a:lnSpc>
            </a:pPr>
            <a:r>
              <a:rPr lang="en-US" sz="1200" b="1" dirty="0">
                <a:solidFill>
                  <a:schemeClr val="tx1"/>
                </a:solidFill>
                <a:latin typeface="Arial" panose="020B0604020202020204" pitchFamily="34" charset="0"/>
                <a:cs typeface="Arial" panose="020B0604020202020204" pitchFamily="34" charset="0"/>
              </a:rPr>
              <a:t>There are many problems. Some of the problems are listed below:</a:t>
            </a:r>
          </a:p>
          <a:p>
            <a:pPr marL="171450" indent="-171450" algn="l">
              <a:lnSpc>
                <a:spcPct val="150000"/>
              </a:lnSpc>
              <a:buFont typeface="Wingdings" panose="05000000000000000000" pitchFamily="2" charset="2"/>
              <a:buChar char="q"/>
            </a:pPr>
            <a:r>
              <a:rPr lang="en-IN" sz="1200" b="1" dirty="0">
                <a:solidFill>
                  <a:schemeClr val="tx1"/>
                </a:solidFill>
                <a:latin typeface="Arial" panose="020B0604020202020204" pitchFamily="34" charset="0"/>
                <a:cs typeface="Arial" panose="020B0604020202020204" pitchFamily="34" charset="0"/>
              </a:rPr>
              <a:t>Overcapacity and Excess Real‑Estate</a:t>
            </a:r>
            <a:endParaRPr lang="en-US" sz="1200" dirty="0">
              <a:solidFill>
                <a:schemeClr val="tx1"/>
              </a:solidFill>
              <a:latin typeface="Arial" panose="020B0604020202020204" pitchFamily="34" charset="0"/>
              <a:cs typeface="Arial" panose="020B0604020202020204" pitchFamily="34" charset="0"/>
            </a:endParaRPr>
          </a:p>
          <a:p>
            <a:pPr marL="628650" lvl="1" indent="-171450" algn="l">
              <a:lnSpc>
                <a:spcPct val="150000"/>
              </a:lnSpc>
              <a:buFont typeface="Wingdings" panose="05000000000000000000" pitchFamily="2" charset="2"/>
              <a:buChar char="q"/>
            </a:pPr>
            <a:r>
              <a:rPr lang="en-US" sz="1000" dirty="0">
                <a:solidFill>
                  <a:schemeClr val="tx1"/>
                </a:solidFill>
                <a:latin typeface="Arial" panose="020B0604020202020204" pitchFamily="34" charset="0"/>
                <a:cs typeface="Arial" panose="020B0604020202020204" pitchFamily="34" charset="0"/>
              </a:rPr>
              <a:t>FIS needs some extra seat for conducting the townhalls with leadership team</a:t>
            </a:r>
          </a:p>
          <a:p>
            <a:pPr marL="628650" lvl="1" indent="-171450" algn="l">
              <a:lnSpc>
                <a:spcPct val="150000"/>
              </a:lnSpc>
              <a:buFont typeface="Wingdings" panose="05000000000000000000" pitchFamily="2" charset="2"/>
              <a:buChar char="q"/>
            </a:pPr>
            <a:r>
              <a:rPr lang="en-IN" sz="1000" dirty="0">
                <a:solidFill>
                  <a:schemeClr val="tx1"/>
                </a:solidFill>
                <a:latin typeface="Arial" panose="020B0604020202020204" pitchFamily="34" charset="0"/>
                <a:cs typeface="Arial" panose="020B0604020202020204" pitchFamily="34" charset="0"/>
              </a:rPr>
              <a:t>Lease contracts and exit windows misaligned with consolidation timeline.</a:t>
            </a:r>
          </a:p>
          <a:p>
            <a:pPr marL="171450" indent="-171450" algn="l">
              <a:lnSpc>
                <a:spcPct val="150000"/>
              </a:lnSpc>
              <a:buFont typeface="Wingdings" panose="05000000000000000000" pitchFamily="2" charset="2"/>
              <a:buChar char="q"/>
            </a:pPr>
            <a:r>
              <a:rPr lang="en-IN" sz="1200" b="1" dirty="0">
                <a:solidFill>
                  <a:schemeClr val="tx1"/>
                </a:solidFill>
                <a:latin typeface="Arial" panose="020B0604020202020204" pitchFamily="34" charset="0"/>
                <a:cs typeface="Arial" panose="020B0604020202020204" pitchFamily="34" charset="0"/>
              </a:rPr>
              <a:t>Operational and move management problems</a:t>
            </a:r>
            <a:endParaRPr lang="en-IN" sz="1200" dirty="0">
              <a:solidFill>
                <a:schemeClr val="tx1"/>
              </a:solidFill>
              <a:latin typeface="Arial" panose="020B0604020202020204" pitchFamily="34" charset="0"/>
              <a:cs typeface="Arial" panose="020B0604020202020204" pitchFamily="34" charset="0"/>
            </a:endParaRPr>
          </a:p>
          <a:p>
            <a:pPr marL="628650" lvl="1" indent="-171450" algn="l">
              <a:lnSpc>
                <a:spcPct val="150000"/>
              </a:lnSpc>
              <a:buFont typeface="Wingdings" panose="05000000000000000000" pitchFamily="2" charset="2"/>
              <a:buChar char="q"/>
            </a:pPr>
            <a:r>
              <a:rPr lang="en-IN" sz="1000" dirty="0">
                <a:solidFill>
                  <a:schemeClr val="tx1"/>
                </a:solidFill>
                <a:latin typeface="Arial" panose="020B0604020202020204" pitchFamily="34" charset="0"/>
                <a:cs typeface="Arial" panose="020B0604020202020204" pitchFamily="34" charset="0"/>
              </a:rPr>
              <a:t>Complex moves across floors/buildings with many assets and teams.</a:t>
            </a:r>
          </a:p>
          <a:p>
            <a:pPr marL="628650" lvl="1" indent="-171450" algn="l">
              <a:lnSpc>
                <a:spcPct val="150000"/>
              </a:lnSpc>
              <a:buFont typeface="Wingdings" panose="05000000000000000000" pitchFamily="2" charset="2"/>
              <a:buChar char="q"/>
            </a:pPr>
            <a:r>
              <a:rPr lang="en-IN" sz="1000" dirty="0">
                <a:solidFill>
                  <a:schemeClr val="tx1"/>
                </a:solidFill>
                <a:latin typeface="Arial" panose="020B0604020202020204" pitchFamily="34" charset="0"/>
                <a:cs typeface="Arial" panose="020B0604020202020204" pitchFamily="34" charset="0"/>
              </a:rPr>
              <a:t>Occasional high‑demand days could exceed the reduced seating capacity.</a:t>
            </a:r>
          </a:p>
          <a:p>
            <a:pPr marL="171450" indent="-171450" algn="l">
              <a:lnSpc>
                <a:spcPct val="150000"/>
              </a:lnSpc>
              <a:buFont typeface="Wingdings" panose="05000000000000000000" pitchFamily="2" charset="2"/>
              <a:buChar char="q"/>
            </a:pPr>
            <a:r>
              <a:rPr lang="en-IN" sz="1200" b="1" dirty="0">
                <a:solidFill>
                  <a:schemeClr val="tx1"/>
                </a:solidFill>
                <a:latin typeface="Arial" panose="020B0604020202020204" pitchFamily="34" charset="0"/>
                <a:cs typeface="Arial" panose="020B0604020202020204" pitchFamily="34" charset="0"/>
              </a:rPr>
              <a:t>Inaccurate Space and Asset Inventory</a:t>
            </a:r>
            <a:endParaRPr lang="en-IN" sz="1000" dirty="0">
              <a:solidFill>
                <a:schemeClr val="tx1"/>
              </a:solidFill>
              <a:latin typeface="Arial" panose="020B0604020202020204" pitchFamily="34" charset="0"/>
              <a:cs typeface="Arial" panose="020B0604020202020204" pitchFamily="34" charset="0"/>
            </a:endParaRPr>
          </a:p>
          <a:p>
            <a:pPr marL="628650" lvl="1" indent="-171450" algn="l">
              <a:lnSpc>
                <a:spcPct val="150000"/>
              </a:lnSpc>
              <a:buFont typeface="Wingdings" panose="05000000000000000000" pitchFamily="2" charset="2"/>
              <a:buChar char="q"/>
            </a:pPr>
            <a:r>
              <a:rPr lang="en-IN" sz="1000" dirty="0">
                <a:solidFill>
                  <a:schemeClr val="tx1"/>
                </a:solidFill>
                <a:latin typeface="Arial" panose="020B0604020202020204" pitchFamily="34" charset="0"/>
                <a:cs typeface="Arial" panose="020B0604020202020204" pitchFamily="34" charset="0"/>
              </a:rPr>
              <a:t>Complex moves across floors/buildings with many assets and teams.</a:t>
            </a:r>
          </a:p>
          <a:p>
            <a:pPr marL="628650" lvl="1" indent="-171450" algn="l">
              <a:lnSpc>
                <a:spcPct val="150000"/>
              </a:lnSpc>
              <a:buFont typeface="Wingdings" panose="05000000000000000000" pitchFamily="2" charset="2"/>
              <a:buChar char="q"/>
            </a:pPr>
            <a:r>
              <a:rPr lang="en-IN" sz="1000" dirty="0">
                <a:solidFill>
                  <a:schemeClr val="tx1"/>
                </a:solidFill>
                <a:latin typeface="Arial" panose="020B0604020202020204" pitchFamily="34" charset="0"/>
                <a:cs typeface="Arial" panose="020B0604020202020204" pitchFamily="34" charset="0"/>
              </a:rPr>
              <a:t>Local </a:t>
            </a:r>
            <a:r>
              <a:rPr lang="en-IN" sz="1000" dirty="0" err="1">
                <a:solidFill>
                  <a:schemeClr val="tx1"/>
                </a:solidFill>
                <a:latin typeface="Arial" panose="020B0604020202020204" pitchFamily="34" charset="0"/>
                <a:cs typeface="Arial" panose="020B0604020202020204" pitchFamily="34" charset="0"/>
              </a:rPr>
              <a:t>labor</a:t>
            </a:r>
            <a:r>
              <a:rPr lang="en-IN" sz="1000" dirty="0">
                <a:solidFill>
                  <a:schemeClr val="tx1"/>
                </a:solidFill>
                <a:latin typeface="Arial" panose="020B0604020202020204" pitchFamily="34" charset="0"/>
                <a:cs typeface="Arial" panose="020B0604020202020204" pitchFamily="34" charset="0"/>
              </a:rPr>
              <a:t>, safety, or data‑protection rules may be overlooked during consolidation.</a:t>
            </a:r>
          </a:p>
          <a:p>
            <a:pPr marL="179388" lvl="1" indent="-179388" algn="l">
              <a:lnSpc>
                <a:spcPct val="150000"/>
              </a:lnSpc>
              <a:buFont typeface="Wingdings" panose="05000000000000000000" pitchFamily="2" charset="2"/>
              <a:buChar char="q"/>
            </a:pPr>
            <a:r>
              <a:rPr lang="en-IN" sz="1200" b="1" dirty="0">
                <a:solidFill>
                  <a:schemeClr val="tx1"/>
                </a:solidFill>
                <a:latin typeface="Arial" panose="020B0604020202020204" pitchFamily="34" charset="0"/>
                <a:cs typeface="Arial" panose="020B0604020202020204" pitchFamily="34" charset="0"/>
              </a:rPr>
              <a:t>Townhall and Event Seating Needs</a:t>
            </a:r>
          </a:p>
          <a:p>
            <a:pPr marL="628650" lvl="1" indent="-171450" algn="l">
              <a:lnSpc>
                <a:spcPct val="150000"/>
              </a:lnSpc>
              <a:buFont typeface="Wingdings" panose="05000000000000000000" pitchFamily="2" charset="2"/>
              <a:buChar char="q"/>
            </a:pPr>
            <a:r>
              <a:rPr lang="en-IN" sz="1000" dirty="0">
                <a:solidFill>
                  <a:schemeClr val="tx1"/>
                </a:solidFill>
                <a:latin typeface="Arial" panose="020B0604020202020204" pitchFamily="34" charset="0"/>
                <a:cs typeface="Arial" panose="020B0604020202020204" pitchFamily="34" charset="0"/>
              </a:rPr>
              <a:t>The office must retain flexible seating or a reserve area to host leadership townhalls and large gatherings.</a:t>
            </a:r>
          </a:p>
          <a:p>
            <a:pPr marL="628650" lvl="1" indent="-171450" algn="l">
              <a:lnSpc>
                <a:spcPct val="150000"/>
              </a:lnSpc>
              <a:buFont typeface="Wingdings" panose="05000000000000000000" pitchFamily="2" charset="2"/>
              <a:buChar char="q"/>
            </a:pPr>
            <a:endParaRPr lang="en-IN" sz="1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7303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BE257-5623-1478-71CA-1716EA6093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6EF68A-ADA8-96BE-ED98-E8CA41E52848}"/>
              </a:ext>
            </a:extLst>
          </p:cNvPr>
          <p:cNvSpPr>
            <a:spLocks noGrp="1"/>
          </p:cNvSpPr>
          <p:nvPr>
            <p:ph type="ctrTitle"/>
          </p:nvPr>
        </p:nvSpPr>
        <p:spPr>
          <a:xfrm>
            <a:off x="800099" y="350901"/>
            <a:ext cx="8582025" cy="830785"/>
          </a:xfrm>
        </p:spPr>
        <p:txBody>
          <a:bodyPr>
            <a:normAutofit fontScale="90000"/>
          </a:bodyPr>
          <a:lstStyle/>
          <a:p>
            <a:pPr algn="l"/>
            <a:r>
              <a:rPr lang="en-US" dirty="0">
                <a:solidFill>
                  <a:schemeClr val="tx1"/>
                </a:solidFill>
                <a:latin typeface="Arial" panose="020B0604020202020204" pitchFamily="34" charset="0"/>
                <a:cs typeface="Arial" panose="020B0604020202020204" pitchFamily="34" charset="0"/>
              </a:rPr>
              <a:t>Opportunity:</a:t>
            </a:r>
            <a:endParaRPr lang="en-IN" dirty="0">
              <a:solidFill>
                <a:schemeClr val="tx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8068DA08-75D2-6CC7-58FF-4EEC10D53439}"/>
              </a:ext>
            </a:extLst>
          </p:cNvPr>
          <p:cNvSpPr>
            <a:spLocks noGrp="1"/>
          </p:cNvSpPr>
          <p:nvPr>
            <p:ph type="subTitle" idx="1"/>
          </p:nvPr>
        </p:nvSpPr>
        <p:spPr>
          <a:xfrm>
            <a:off x="800098" y="1288583"/>
            <a:ext cx="8820151" cy="4150192"/>
          </a:xfrm>
        </p:spPr>
        <p:txBody>
          <a:bodyPr>
            <a:normAutofit/>
          </a:bodyPr>
          <a:lstStyle/>
          <a:p>
            <a:pPr algn="l">
              <a:lnSpc>
                <a:spcPct val="150000"/>
              </a:lnSpc>
            </a:pPr>
            <a:r>
              <a:rPr lang="en-US" sz="1200" b="1" dirty="0">
                <a:solidFill>
                  <a:schemeClr val="tx1"/>
                </a:solidFill>
                <a:latin typeface="Arial" panose="020B0604020202020204" pitchFamily="34" charset="0"/>
                <a:cs typeface="Arial" panose="020B0604020202020204" pitchFamily="34" charset="0"/>
              </a:rPr>
              <a:t>There are following opportunities which is identified after Covid-19. Some of the opportunities are listed below:</a:t>
            </a:r>
          </a:p>
          <a:p>
            <a:pPr marL="171450" indent="-171450" algn="l">
              <a:lnSpc>
                <a:spcPct val="150000"/>
              </a:lnSpc>
              <a:buFont typeface="Wingdings" panose="05000000000000000000" pitchFamily="2" charset="2"/>
              <a:buChar char="q"/>
            </a:pPr>
            <a:r>
              <a:rPr lang="en-IN" sz="1200" b="1" dirty="0">
                <a:solidFill>
                  <a:schemeClr val="tx1"/>
                </a:solidFill>
                <a:latin typeface="Arial" panose="020B0604020202020204" pitchFamily="34" charset="0"/>
                <a:cs typeface="Arial" panose="020B0604020202020204" pitchFamily="34" charset="0"/>
              </a:rPr>
              <a:t>Flexible Lease Strategies </a:t>
            </a:r>
            <a:r>
              <a:rPr lang="en-IN" sz="1200" dirty="0">
                <a:solidFill>
                  <a:schemeClr val="tx1"/>
                </a:solidFill>
                <a:latin typeface="Arial" panose="020B0604020202020204" pitchFamily="34" charset="0"/>
                <a:cs typeface="Arial" panose="020B0604020202020204" pitchFamily="34" charset="0"/>
              </a:rPr>
              <a:t>— Organization needs shorter terms Lease so that it can break easily. Also, it should be break clauses, and sublease options to increase agility and reduce exit costs.</a:t>
            </a:r>
          </a:p>
          <a:p>
            <a:pPr marL="171450" indent="-171450" algn="l">
              <a:lnSpc>
                <a:spcPct val="150000"/>
              </a:lnSpc>
              <a:buFont typeface="Wingdings" panose="05000000000000000000" pitchFamily="2" charset="2"/>
              <a:buChar char="q"/>
            </a:pPr>
            <a:r>
              <a:rPr lang="en-IN" sz="1200" b="1" dirty="0">
                <a:solidFill>
                  <a:schemeClr val="tx1"/>
                </a:solidFill>
                <a:latin typeface="Arial" panose="020B0604020202020204" pitchFamily="34" charset="0"/>
                <a:cs typeface="Arial" panose="020B0604020202020204" pitchFamily="34" charset="0"/>
              </a:rPr>
              <a:t>Workspace-as-a-Service Options</a:t>
            </a:r>
            <a:r>
              <a:rPr lang="en-IN" sz="1200" dirty="0">
                <a:solidFill>
                  <a:schemeClr val="tx1"/>
                </a:solidFill>
                <a:latin typeface="Arial" panose="020B0604020202020204" pitchFamily="34" charset="0"/>
                <a:cs typeface="Arial" panose="020B0604020202020204" pitchFamily="34" charset="0"/>
              </a:rPr>
              <a:t> — Use coworking or managed space providers for overflow and project teams to avoid long‑term commitments.</a:t>
            </a:r>
          </a:p>
          <a:p>
            <a:pPr marL="171450" indent="-171450" algn="l">
              <a:lnSpc>
                <a:spcPct val="150000"/>
              </a:lnSpc>
              <a:buFont typeface="Wingdings" panose="05000000000000000000" pitchFamily="2" charset="2"/>
              <a:buChar char="q"/>
            </a:pPr>
            <a:r>
              <a:rPr lang="en-IN" sz="1200" b="1" dirty="0">
                <a:solidFill>
                  <a:schemeClr val="tx1"/>
                </a:solidFill>
                <a:latin typeface="Arial" panose="020B0604020202020204" pitchFamily="34" charset="0"/>
                <a:cs typeface="Arial" panose="020B0604020202020204" pitchFamily="34" charset="0"/>
              </a:rPr>
              <a:t>Event and Collaboration Hubs</a:t>
            </a:r>
            <a:r>
              <a:rPr lang="en-IN" sz="1200" dirty="0">
                <a:solidFill>
                  <a:schemeClr val="tx1"/>
                </a:solidFill>
                <a:latin typeface="Arial" panose="020B0604020202020204" pitchFamily="34" charset="0"/>
                <a:cs typeface="Arial" panose="020B0604020202020204" pitchFamily="34" charset="0"/>
              </a:rPr>
              <a:t> — Convert surplus space into Innovation Labs, Training </a:t>
            </a:r>
            <a:r>
              <a:rPr lang="en-IN" sz="1200" dirty="0" err="1">
                <a:solidFill>
                  <a:schemeClr val="tx1"/>
                </a:solidFill>
                <a:latin typeface="Arial" panose="020B0604020202020204" pitchFamily="34" charset="0"/>
                <a:cs typeface="Arial" panose="020B0604020202020204" pitchFamily="34" charset="0"/>
              </a:rPr>
              <a:t>Center</a:t>
            </a:r>
            <a:r>
              <a:rPr lang="en-IN" sz="1200" dirty="0">
                <a:solidFill>
                  <a:schemeClr val="tx1"/>
                </a:solidFill>
                <a:latin typeface="Arial" panose="020B0604020202020204" pitchFamily="34" charset="0"/>
                <a:cs typeface="Arial" panose="020B0604020202020204" pitchFamily="34" charset="0"/>
              </a:rPr>
              <a:t>, or Client Briefing Suites that add business value.</a:t>
            </a:r>
          </a:p>
          <a:p>
            <a:pPr marL="171450" indent="-171450" algn="l">
              <a:lnSpc>
                <a:spcPct val="150000"/>
              </a:lnSpc>
              <a:buFont typeface="Wingdings" panose="05000000000000000000" pitchFamily="2" charset="2"/>
              <a:buChar char="q"/>
            </a:pPr>
            <a:r>
              <a:rPr lang="en-IN" sz="1200" b="1" dirty="0">
                <a:solidFill>
                  <a:schemeClr val="tx1"/>
                </a:solidFill>
                <a:latin typeface="Arial" panose="020B0604020202020204" pitchFamily="34" charset="0"/>
                <a:cs typeface="Arial" panose="020B0604020202020204" pitchFamily="34" charset="0"/>
              </a:rPr>
              <a:t>Sustainability and Energy Savings</a:t>
            </a:r>
            <a:r>
              <a:rPr lang="en-IN" sz="1200" dirty="0">
                <a:solidFill>
                  <a:schemeClr val="tx1"/>
                </a:solidFill>
                <a:latin typeface="Arial" panose="020B0604020202020204" pitchFamily="34" charset="0"/>
                <a:cs typeface="Arial" panose="020B0604020202020204" pitchFamily="34" charset="0"/>
              </a:rPr>
              <a:t> — Right‑size utilities, implement zoned HVAC, and report carbon reductions as part of ESG goals.</a:t>
            </a:r>
          </a:p>
          <a:p>
            <a:pPr marL="171450" indent="-171450" algn="l">
              <a:lnSpc>
                <a:spcPct val="150000"/>
              </a:lnSpc>
              <a:buFont typeface="Wingdings" panose="05000000000000000000" pitchFamily="2" charset="2"/>
              <a:buChar char="q"/>
            </a:pPr>
            <a:r>
              <a:rPr lang="en-IN" sz="1200" b="1" dirty="0">
                <a:solidFill>
                  <a:schemeClr val="tx1"/>
                </a:solidFill>
                <a:latin typeface="Arial" panose="020B0604020202020204" pitchFamily="34" charset="0"/>
                <a:cs typeface="Arial" panose="020B0604020202020204" pitchFamily="34" charset="0"/>
              </a:rPr>
              <a:t>Advanced Utilization Analytics</a:t>
            </a:r>
            <a:r>
              <a:rPr lang="en-IN" sz="1200" dirty="0">
                <a:solidFill>
                  <a:schemeClr val="tx1"/>
                </a:solidFill>
                <a:latin typeface="Arial" panose="020B0604020202020204" pitchFamily="34" charset="0"/>
                <a:cs typeface="Arial" panose="020B0604020202020204" pitchFamily="34" charset="0"/>
              </a:rPr>
              <a:t> — Apply predictive analytics to forecast demand, optimize desk ratios, and plan seasonal capacity.</a:t>
            </a:r>
          </a:p>
          <a:p>
            <a:pPr marL="171450" indent="-171450" algn="l">
              <a:lnSpc>
                <a:spcPct val="150000"/>
              </a:lnSpc>
              <a:buFont typeface="Wingdings" panose="05000000000000000000" pitchFamily="2" charset="2"/>
              <a:buChar char="q"/>
            </a:pPr>
            <a:r>
              <a:rPr lang="en-IN" sz="1200" b="1" dirty="0">
                <a:solidFill>
                  <a:schemeClr val="tx1"/>
                </a:solidFill>
                <a:latin typeface="Arial" panose="020B0604020202020204" pitchFamily="34" charset="0"/>
                <a:cs typeface="Arial" panose="020B0604020202020204" pitchFamily="34" charset="0"/>
              </a:rPr>
              <a:t>Efficient Seat Booking — </a:t>
            </a:r>
            <a:r>
              <a:rPr lang="en-IN" sz="1200" dirty="0">
                <a:solidFill>
                  <a:schemeClr val="tx1"/>
                </a:solidFill>
                <a:latin typeface="Arial" panose="020B0604020202020204" pitchFamily="34" charset="0"/>
                <a:cs typeface="Arial" panose="020B0604020202020204" pitchFamily="34" charset="0"/>
              </a:rPr>
              <a:t>Seat Booking can be easily done within 30 seconds.</a:t>
            </a:r>
            <a:endParaRPr lang="en-IN" sz="12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9465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EDAF6-BFFD-69F7-D254-15E5DE75EF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DDBA39-33B9-6E3C-1264-5039DFFB48DA}"/>
              </a:ext>
            </a:extLst>
          </p:cNvPr>
          <p:cNvSpPr>
            <a:spLocks noGrp="1"/>
          </p:cNvSpPr>
          <p:nvPr>
            <p:ph type="ctrTitle"/>
          </p:nvPr>
        </p:nvSpPr>
        <p:spPr>
          <a:xfrm>
            <a:off x="800099" y="350901"/>
            <a:ext cx="8582025" cy="830785"/>
          </a:xfrm>
        </p:spPr>
        <p:txBody>
          <a:bodyPr>
            <a:normAutofit fontScale="90000"/>
          </a:bodyPr>
          <a:lstStyle/>
          <a:p>
            <a:pPr algn="l"/>
            <a:r>
              <a:rPr lang="en-US" dirty="0">
                <a:solidFill>
                  <a:schemeClr val="tx1"/>
                </a:solidFill>
                <a:latin typeface="Arial" panose="020B0604020202020204" pitchFamily="34" charset="0"/>
                <a:cs typeface="Arial" panose="020B0604020202020204" pitchFamily="34" charset="0"/>
              </a:rPr>
              <a:t>Goals:</a:t>
            </a:r>
            <a:endParaRPr lang="en-IN" dirty="0">
              <a:solidFill>
                <a:schemeClr val="tx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3CA95DB4-744C-DE93-71D0-FFBF2C119995}"/>
              </a:ext>
            </a:extLst>
          </p:cNvPr>
          <p:cNvSpPr>
            <a:spLocks noGrp="1"/>
          </p:cNvSpPr>
          <p:nvPr>
            <p:ph type="subTitle" idx="1"/>
          </p:nvPr>
        </p:nvSpPr>
        <p:spPr>
          <a:xfrm>
            <a:off x="800098" y="1288583"/>
            <a:ext cx="8820151" cy="4150192"/>
          </a:xfrm>
        </p:spPr>
        <p:txBody>
          <a:bodyPr>
            <a:normAutofit/>
          </a:bodyPr>
          <a:lstStyle/>
          <a:p>
            <a:pPr algn="l">
              <a:lnSpc>
                <a:spcPct val="150000"/>
              </a:lnSpc>
            </a:pPr>
            <a:r>
              <a:rPr lang="en-US" sz="1200" b="1" dirty="0">
                <a:solidFill>
                  <a:schemeClr val="tx1"/>
                </a:solidFill>
                <a:latin typeface="Arial" panose="020B0604020202020204" pitchFamily="34" charset="0"/>
                <a:cs typeface="Arial" panose="020B0604020202020204" pitchFamily="34" charset="0"/>
              </a:rPr>
              <a:t>As an Organization, FIS is trying to build an app for all the employees so that they can book their seat/workspace for the day, week or the month.</a:t>
            </a:r>
          </a:p>
          <a:p>
            <a:pPr algn="l">
              <a:lnSpc>
                <a:spcPct val="150000"/>
              </a:lnSpc>
            </a:pPr>
            <a:r>
              <a:rPr lang="en-US" sz="1200" b="1" dirty="0">
                <a:solidFill>
                  <a:schemeClr val="tx1"/>
                </a:solidFill>
                <a:latin typeface="Arial" panose="020B0604020202020204" pitchFamily="34" charset="0"/>
                <a:cs typeface="Arial" panose="020B0604020202020204" pitchFamily="34" charset="0"/>
              </a:rPr>
              <a:t>The Primary Objectives/Aims/Goals of seat booking application are as follows:</a:t>
            </a:r>
          </a:p>
          <a:p>
            <a:pPr marL="171450" indent="-171450" algn="l">
              <a:lnSpc>
                <a:spcPct val="150000"/>
              </a:lnSpc>
              <a:buFont typeface="Wingdings" panose="05000000000000000000" pitchFamily="2" charset="2"/>
              <a:buChar char="q"/>
            </a:pPr>
            <a:r>
              <a:rPr lang="en-IN" sz="1200" dirty="0">
                <a:solidFill>
                  <a:schemeClr val="tx1"/>
                </a:solidFill>
              </a:rPr>
              <a:t>Reduction in leased square feet validated by 3‑month utilization data.</a:t>
            </a:r>
          </a:p>
          <a:p>
            <a:pPr marL="171450" indent="-171450" algn="l">
              <a:lnSpc>
                <a:spcPct val="150000"/>
              </a:lnSpc>
              <a:buFont typeface="Wingdings" panose="05000000000000000000" pitchFamily="2" charset="2"/>
              <a:buChar char="q"/>
            </a:pPr>
            <a:r>
              <a:rPr lang="en-IN" sz="1200" dirty="0">
                <a:solidFill>
                  <a:schemeClr val="tx1"/>
                </a:solidFill>
              </a:rPr>
              <a:t>Eliminate manual seat booking by automatic booking done via SSO login (</a:t>
            </a:r>
            <a:r>
              <a:rPr lang="en-IN" sz="1200" dirty="0" err="1">
                <a:solidFill>
                  <a:schemeClr val="tx1"/>
                </a:solidFill>
              </a:rPr>
              <a:t>fis</a:t>
            </a:r>
            <a:r>
              <a:rPr lang="en-IN" sz="1200" dirty="0">
                <a:solidFill>
                  <a:schemeClr val="tx1"/>
                </a:solidFill>
              </a:rPr>
              <a:t> username and password).</a:t>
            </a:r>
          </a:p>
          <a:p>
            <a:pPr marL="171450" indent="-171450" algn="l">
              <a:lnSpc>
                <a:spcPct val="150000"/>
              </a:lnSpc>
              <a:buFont typeface="Wingdings" panose="05000000000000000000" pitchFamily="2" charset="2"/>
              <a:buChar char="q"/>
            </a:pPr>
            <a:r>
              <a:rPr lang="en-IN" sz="1200" dirty="0">
                <a:solidFill>
                  <a:schemeClr val="tx1"/>
                </a:solidFill>
              </a:rPr>
              <a:t>Enable flexible reservations for desks, collaboration spaces, and townhall seating (day/week/month).</a:t>
            </a:r>
          </a:p>
          <a:p>
            <a:pPr marL="171450" indent="-171450" algn="l">
              <a:lnSpc>
                <a:spcPct val="150000"/>
              </a:lnSpc>
              <a:buFont typeface="Wingdings" panose="05000000000000000000" pitchFamily="2" charset="2"/>
              <a:buChar char="q"/>
            </a:pPr>
            <a:r>
              <a:rPr lang="en-IN" sz="1200" dirty="0">
                <a:solidFill>
                  <a:schemeClr val="tx1"/>
                </a:solidFill>
              </a:rPr>
              <a:t>Reduced time for seat confirmation/parking space confirmation. Also, ensure no seat booking request missed by seat booking application.</a:t>
            </a:r>
            <a:endParaRPr lang="en-IN" sz="1200" dirty="0">
              <a:solidFill>
                <a:schemeClr val="tx1"/>
              </a:solidFill>
              <a:latin typeface="Arial" panose="020B0604020202020204" pitchFamily="34" charset="0"/>
              <a:cs typeface="Arial" panose="020B0604020202020204" pitchFamily="34" charset="0"/>
            </a:endParaRPr>
          </a:p>
          <a:p>
            <a:pPr marL="171450" indent="-171450" algn="l">
              <a:lnSpc>
                <a:spcPct val="150000"/>
              </a:lnSpc>
              <a:buFont typeface="Wingdings" panose="05000000000000000000" pitchFamily="2" charset="2"/>
              <a:buChar char="q"/>
            </a:pPr>
            <a:r>
              <a:rPr lang="en-IN" sz="1200" dirty="0">
                <a:solidFill>
                  <a:schemeClr val="tx1"/>
                </a:solidFill>
              </a:rPr>
              <a:t>Provide real‑time dashboards for facilities and leadership showing utilization, no‑show rates, and peak demand.</a:t>
            </a:r>
          </a:p>
        </p:txBody>
      </p:sp>
    </p:spTree>
    <p:extLst>
      <p:ext uri="{BB962C8B-B14F-4D97-AF65-F5344CB8AC3E}">
        <p14:creationId xmlns:p14="http://schemas.microsoft.com/office/powerpoint/2010/main" val="906517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93ACC-9765-546E-87F6-6E19CC5333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B66224-C0D9-366A-701B-A74F59E55114}"/>
              </a:ext>
            </a:extLst>
          </p:cNvPr>
          <p:cNvSpPr>
            <a:spLocks noGrp="1"/>
          </p:cNvSpPr>
          <p:nvPr>
            <p:ph type="ctrTitle"/>
          </p:nvPr>
        </p:nvSpPr>
        <p:spPr>
          <a:xfrm>
            <a:off x="800099" y="350901"/>
            <a:ext cx="8582025" cy="830785"/>
          </a:xfrm>
        </p:spPr>
        <p:txBody>
          <a:bodyPr>
            <a:normAutofit fontScale="90000"/>
          </a:bodyPr>
          <a:lstStyle/>
          <a:p>
            <a:pPr algn="l"/>
            <a:r>
              <a:rPr lang="en-US" dirty="0">
                <a:solidFill>
                  <a:schemeClr val="tx1"/>
                </a:solidFill>
                <a:latin typeface="Arial" panose="020B0604020202020204" pitchFamily="34" charset="0"/>
                <a:cs typeface="Arial" panose="020B0604020202020204" pitchFamily="34" charset="0"/>
              </a:rPr>
              <a:t>Project Objectives:</a:t>
            </a:r>
            <a:endParaRPr lang="en-IN" dirty="0">
              <a:solidFill>
                <a:schemeClr val="tx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05BF1B35-B3A7-D076-DAD7-A80521152475}"/>
              </a:ext>
            </a:extLst>
          </p:cNvPr>
          <p:cNvSpPr>
            <a:spLocks noGrp="1"/>
          </p:cNvSpPr>
          <p:nvPr>
            <p:ph type="subTitle" idx="1"/>
          </p:nvPr>
        </p:nvSpPr>
        <p:spPr>
          <a:xfrm>
            <a:off x="800098" y="1288582"/>
            <a:ext cx="8840859" cy="4565565"/>
          </a:xfrm>
        </p:spPr>
        <p:txBody>
          <a:bodyPr>
            <a:normAutofit lnSpcReduction="10000"/>
          </a:bodyPr>
          <a:lstStyle/>
          <a:p>
            <a:pPr algn="l">
              <a:lnSpc>
                <a:spcPct val="150000"/>
              </a:lnSpc>
            </a:pPr>
            <a:r>
              <a:rPr lang="en-IN" sz="1100" b="1" dirty="0">
                <a:solidFill>
                  <a:schemeClr val="tx1"/>
                </a:solidFill>
                <a:latin typeface="Arial" panose="020B0604020202020204" pitchFamily="34" charset="0"/>
                <a:cs typeface="Arial" panose="020B0604020202020204" pitchFamily="34" charset="0"/>
              </a:rPr>
              <a:t>Build a user‑friendly web and mobile application that enables FIS employees to reserve desks, meeting rooms, and event seating for a day, week, or month, and delivers verified occupancy data to support workspace right‑sizing.</a:t>
            </a:r>
          </a:p>
          <a:p>
            <a:pPr marL="171450" indent="-171450" algn="l">
              <a:lnSpc>
                <a:spcPct val="150000"/>
              </a:lnSpc>
              <a:buFont typeface="Wingdings" panose="05000000000000000000" pitchFamily="2" charset="2"/>
              <a:buChar char="q"/>
            </a:pPr>
            <a:r>
              <a:rPr lang="en-IN" sz="1100" b="1" dirty="0">
                <a:solidFill>
                  <a:schemeClr val="tx1"/>
                </a:solidFill>
                <a:latin typeface="Arial" panose="020B0604020202020204" pitchFamily="34" charset="0"/>
                <a:cs typeface="Arial" panose="020B0604020202020204" pitchFamily="34" charset="0"/>
              </a:rPr>
              <a:t>Space Optimization</a:t>
            </a:r>
          </a:p>
          <a:p>
            <a:pPr marL="628650" lvl="1" indent="-171450" algn="l">
              <a:lnSpc>
                <a:spcPct val="150000"/>
              </a:lnSpc>
              <a:buFont typeface="Wingdings" panose="05000000000000000000" pitchFamily="2" charset="2"/>
              <a:buChar char="q"/>
            </a:pPr>
            <a:r>
              <a:rPr lang="en-IN" sz="1100" dirty="0">
                <a:solidFill>
                  <a:schemeClr val="tx1"/>
                </a:solidFill>
                <a:latin typeface="Arial" panose="020B0604020202020204" pitchFamily="34" charset="0"/>
                <a:cs typeface="Arial" panose="020B0604020202020204" pitchFamily="34" charset="0"/>
              </a:rPr>
              <a:t>Reduce FIS’s physical footprint to support a validated approx. </a:t>
            </a:r>
            <a:r>
              <a:rPr lang="en-IN" sz="1100" b="1" dirty="0">
                <a:solidFill>
                  <a:schemeClr val="tx1"/>
                </a:solidFill>
                <a:latin typeface="Arial" panose="020B0604020202020204" pitchFamily="34" charset="0"/>
                <a:cs typeface="Arial" panose="020B0604020202020204" pitchFamily="34" charset="0"/>
              </a:rPr>
              <a:t>700 in‑office seats</a:t>
            </a:r>
            <a:r>
              <a:rPr lang="en-IN" sz="1100" dirty="0">
                <a:solidFill>
                  <a:schemeClr val="tx1"/>
                </a:solidFill>
                <a:latin typeface="Arial" panose="020B0604020202020204" pitchFamily="34" charset="0"/>
                <a:cs typeface="Arial" panose="020B0604020202020204" pitchFamily="34" charset="0"/>
              </a:rPr>
              <a:t> target.</a:t>
            </a:r>
          </a:p>
          <a:p>
            <a:pPr marL="171450" indent="-171450" algn="l">
              <a:lnSpc>
                <a:spcPct val="150000"/>
              </a:lnSpc>
              <a:buFont typeface="Wingdings" panose="05000000000000000000" pitchFamily="2" charset="2"/>
              <a:buChar char="q"/>
            </a:pPr>
            <a:r>
              <a:rPr lang="en-IN" sz="1100" b="1" dirty="0">
                <a:solidFill>
                  <a:schemeClr val="tx1"/>
                </a:solidFill>
                <a:latin typeface="Arial" panose="020B0604020202020204" pitchFamily="34" charset="0"/>
                <a:cs typeface="Arial" panose="020B0604020202020204" pitchFamily="34" charset="0"/>
              </a:rPr>
              <a:t>Booking and Occupancy Verification</a:t>
            </a:r>
          </a:p>
          <a:p>
            <a:pPr marL="628650" lvl="1" indent="-171450" algn="l">
              <a:lnSpc>
                <a:spcPct val="150000"/>
              </a:lnSpc>
              <a:buFont typeface="Wingdings" panose="05000000000000000000" pitchFamily="2" charset="2"/>
              <a:buChar char="q"/>
            </a:pPr>
            <a:r>
              <a:rPr lang="en-IN" sz="1100" dirty="0">
                <a:solidFill>
                  <a:schemeClr val="tx1"/>
                </a:solidFill>
                <a:latin typeface="Arial" panose="020B0604020202020204" pitchFamily="34" charset="0"/>
                <a:cs typeface="Arial" panose="020B0604020202020204" pitchFamily="34" charset="0"/>
              </a:rPr>
              <a:t>Deliver a mobile and web booking app that allows employees to reserve desks, meeting rooms, and event seating for </a:t>
            </a:r>
            <a:r>
              <a:rPr lang="en-IN" sz="1100" b="1" dirty="0">
                <a:solidFill>
                  <a:schemeClr val="tx1"/>
                </a:solidFill>
                <a:latin typeface="Arial" panose="020B0604020202020204" pitchFamily="34" charset="0"/>
                <a:cs typeface="Arial" panose="020B0604020202020204" pitchFamily="34" charset="0"/>
              </a:rPr>
              <a:t>day / week / month</a:t>
            </a:r>
            <a:r>
              <a:rPr lang="en-IN" sz="1100" dirty="0">
                <a:solidFill>
                  <a:schemeClr val="tx1"/>
                </a:solidFill>
                <a:latin typeface="Arial" panose="020B0604020202020204" pitchFamily="34" charset="0"/>
                <a:cs typeface="Arial" panose="020B0604020202020204" pitchFamily="34" charset="0"/>
              </a:rPr>
              <a:t> and supports mandatory check‑in.</a:t>
            </a:r>
          </a:p>
          <a:p>
            <a:pPr marL="171450" indent="-171450" algn="l">
              <a:lnSpc>
                <a:spcPct val="150000"/>
              </a:lnSpc>
              <a:buFont typeface="Wingdings" panose="05000000000000000000" pitchFamily="2" charset="2"/>
              <a:buChar char="q"/>
            </a:pPr>
            <a:r>
              <a:rPr lang="en-IN" sz="1100" b="1" dirty="0">
                <a:solidFill>
                  <a:schemeClr val="tx1"/>
                </a:solidFill>
                <a:latin typeface="Arial" panose="020B0604020202020204" pitchFamily="34" charset="0"/>
                <a:cs typeface="Arial" panose="020B0604020202020204" pitchFamily="34" charset="0"/>
              </a:rPr>
              <a:t>Seat book- anytime/anywhere</a:t>
            </a:r>
          </a:p>
          <a:p>
            <a:pPr marL="628650" lvl="1" indent="-171450" algn="l">
              <a:lnSpc>
                <a:spcPct val="150000"/>
              </a:lnSpc>
              <a:buFont typeface="Wingdings" panose="05000000000000000000" pitchFamily="2" charset="2"/>
              <a:buChar char="q"/>
            </a:pPr>
            <a:r>
              <a:rPr lang="en-IN" sz="1100" dirty="0">
                <a:solidFill>
                  <a:schemeClr val="tx1"/>
                </a:solidFill>
                <a:latin typeface="Arial" panose="020B0604020202020204" pitchFamily="34" charset="0"/>
                <a:cs typeface="Arial" panose="020B0604020202020204" pitchFamily="34" charset="0"/>
              </a:rPr>
              <a:t>Employee can book a seat as per their choice.</a:t>
            </a:r>
          </a:p>
          <a:p>
            <a:pPr marL="171450" indent="-171450" algn="l">
              <a:lnSpc>
                <a:spcPct val="150000"/>
              </a:lnSpc>
              <a:buFont typeface="Wingdings" panose="05000000000000000000" pitchFamily="2" charset="2"/>
              <a:buChar char="q"/>
            </a:pPr>
            <a:r>
              <a:rPr lang="en-IN" sz="1100" b="1" dirty="0">
                <a:solidFill>
                  <a:schemeClr val="tx1"/>
                </a:solidFill>
                <a:latin typeface="Arial" panose="020B0604020202020204" pitchFamily="34" charset="0"/>
                <a:cs typeface="Arial" panose="020B0604020202020204" pitchFamily="34" charset="0"/>
              </a:rPr>
              <a:t>Role‑based Controls and Approvals</a:t>
            </a:r>
          </a:p>
          <a:p>
            <a:pPr marL="628650" lvl="1" indent="-171450" algn="l">
              <a:lnSpc>
                <a:spcPct val="150000"/>
              </a:lnSpc>
              <a:buFont typeface="Wingdings" panose="05000000000000000000" pitchFamily="2" charset="2"/>
              <a:buChar char="q"/>
            </a:pPr>
            <a:r>
              <a:rPr lang="en-IN" sz="1100" dirty="0">
                <a:solidFill>
                  <a:schemeClr val="tx1"/>
                </a:solidFill>
                <a:latin typeface="Arial" panose="020B0604020202020204" pitchFamily="34" charset="0"/>
                <a:cs typeface="Arial" panose="020B0604020202020204" pitchFamily="34" charset="0"/>
              </a:rPr>
              <a:t>Implement manager approval flows, team quotas, and admin overrides.</a:t>
            </a:r>
          </a:p>
          <a:p>
            <a:pPr marL="171450" indent="-171450" algn="l">
              <a:lnSpc>
                <a:spcPct val="150000"/>
              </a:lnSpc>
              <a:buFont typeface="Wingdings" panose="05000000000000000000" pitchFamily="2" charset="2"/>
              <a:buChar char="q"/>
            </a:pPr>
            <a:r>
              <a:rPr lang="en-IN" sz="1100" b="1" dirty="0">
                <a:solidFill>
                  <a:schemeClr val="tx1"/>
                </a:solidFill>
                <a:latin typeface="Arial" panose="020B0604020202020204" pitchFamily="34" charset="0"/>
                <a:cs typeface="Arial" panose="020B0604020202020204" pitchFamily="34" charset="0"/>
              </a:rPr>
              <a:t>Ensure Data Accuracy</a:t>
            </a:r>
          </a:p>
          <a:p>
            <a:pPr marL="628650" lvl="1" indent="-171450" algn="l">
              <a:lnSpc>
                <a:spcPct val="150000"/>
              </a:lnSpc>
              <a:buFont typeface="Wingdings" panose="05000000000000000000" pitchFamily="2" charset="2"/>
              <a:buChar char="q"/>
            </a:pPr>
            <a:r>
              <a:rPr lang="en-IN" sz="1100" dirty="0">
                <a:solidFill>
                  <a:schemeClr val="tx1"/>
                </a:solidFill>
                <a:latin typeface="Arial" panose="020B0604020202020204" pitchFamily="34" charset="0"/>
                <a:cs typeface="Arial" panose="020B0604020202020204" pitchFamily="34" charset="0"/>
              </a:rPr>
              <a:t>Minimize typographical and manual errors by integrating online seat booking application.</a:t>
            </a:r>
          </a:p>
          <a:p>
            <a:pPr marL="628650" lvl="1" indent="-171450" algn="l">
              <a:lnSpc>
                <a:spcPct val="150000"/>
              </a:lnSpc>
              <a:buFont typeface="Wingdings" panose="05000000000000000000" pitchFamily="2" charset="2"/>
              <a:buChar char="q"/>
            </a:pPr>
            <a:endParaRPr lang="en-IN" sz="11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94216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13AC4-BC55-296E-43EE-0C97FC3CF8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AC7DD-B4AA-A39B-8DCE-090E60FB5B96}"/>
              </a:ext>
            </a:extLst>
          </p:cNvPr>
          <p:cNvSpPr>
            <a:spLocks noGrp="1"/>
          </p:cNvSpPr>
          <p:nvPr>
            <p:ph type="ctrTitle"/>
          </p:nvPr>
        </p:nvSpPr>
        <p:spPr>
          <a:xfrm>
            <a:off x="800099" y="350901"/>
            <a:ext cx="8582025" cy="830785"/>
          </a:xfrm>
        </p:spPr>
        <p:txBody>
          <a:bodyPr>
            <a:normAutofit fontScale="90000"/>
          </a:bodyPr>
          <a:lstStyle/>
          <a:p>
            <a:pPr algn="l"/>
            <a:r>
              <a:rPr lang="en-US" dirty="0">
                <a:solidFill>
                  <a:schemeClr val="tx1"/>
                </a:solidFill>
                <a:latin typeface="Arial" panose="020B0604020202020204" pitchFamily="34" charset="0"/>
                <a:cs typeface="Arial" panose="020B0604020202020204" pitchFamily="34" charset="0"/>
              </a:rPr>
              <a:t>Success Criteria:</a:t>
            </a:r>
            <a:endParaRPr lang="en-IN" dirty="0">
              <a:solidFill>
                <a:schemeClr val="tx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5CACA531-5BCB-F266-81AE-D421F83EEEA0}"/>
              </a:ext>
            </a:extLst>
          </p:cNvPr>
          <p:cNvSpPr>
            <a:spLocks noGrp="1"/>
          </p:cNvSpPr>
          <p:nvPr>
            <p:ph type="subTitle" idx="1"/>
          </p:nvPr>
        </p:nvSpPr>
        <p:spPr>
          <a:xfrm>
            <a:off x="800098" y="1288582"/>
            <a:ext cx="8820151" cy="4814043"/>
          </a:xfrm>
        </p:spPr>
        <p:txBody>
          <a:bodyPr>
            <a:normAutofit/>
          </a:bodyPr>
          <a:lstStyle/>
          <a:p>
            <a:pPr algn="l">
              <a:lnSpc>
                <a:spcPct val="150000"/>
              </a:lnSpc>
            </a:pPr>
            <a:r>
              <a:rPr lang="en-IN" sz="1200" dirty="0">
                <a:solidFill>
                  <a:schemeClr val="tx1"/>
                </a:solidFill>
                <a:latin typeface="Arial" panose="020B0604020202020204" pitchFamily="34" charset="0"/>
                <a:cs typeface="Arial" panose="020B0604020202020204" pitchFamily="34" charset="0"/>
              </a:rPr>
              <a:t>Deliver a production‑ready web and mobile seat‑booking application that is stable, performant, and accepted by users. </a:t>
            </a:r>
          </a:p>
          <a:p>
            <a:pPr algn="l">
              <a:lnSpc>
                <a:spcPct val="150000"/>
              </a:lnSpc>
            </a:pPr>
            <a:r>
              <a:rPr lang="en-IN" sz="1200" b="1" dirty="0">
                <a:solidFill>
                  <a:schemeClr val="tx1"/>
                </a:solidFill>
                <a:latin typeface="Arial" panose="020B0604020202020204" pitchFamily="34" charset="0"/>
                <a:cs typeface="Arial" panose="020B0604020202020204" pitchFamily="34" charset="0"/>
              </a:rPr>
              <a:t>Acceptance:</a:t>
            </a:r>
            <a:r>
              <a:rPr lang="en-IN" sz="1200" dirty="0">
                <a:solidFill>
                  <a:schemeClr val="tx1"/>
                </a:solidFill>
                <a:latin typeface="Arial" panose="020B0604020202020204" pitchFamily="34" charset="0"/>
                <a:cs typeface="Arial" panose="020B0604020202020204" pitchFamily="34" charset="0"/>
              </a:rPr>
              <a:t> MVP deployed to pilot site; production rollout plan approved.</a:t>
            </a:r>
            <a:endParaRPr lang="en-IN" sz="1200" b="1" dirty="0">
              <a:solidFill>
                <a:schemeClr val="tx1"/>
              </a:solidFill>
              <a:latin typeface="Arial" panose="020B0604020202020204" pitchFamily="34" charset="0"/>
              <a:cs typeface="Arial" panose="020B0604020202020204" pitchFamily="34" charset="0"/>
            </a:endParaRPr>
          </a:p>
          <a:p>
            <a:pPr marL="171450" indent="-171450" algn="l">
              <a:lnSpc>
                <a:spcPct val="150000"/>
              </a:lnSpc>
              <a:buFont typeface="Wingdings" panose="05000000000000000000" pitchFamily="2" charset="2"/>
              <a:buChar char="q"/>
            </a:pPr>
            <a:r>
              <a:rPr lang="en-IN" sz="1200" b="1" dirty="0">
                <a:solidFill>
                  <a:schemeClr val="tx1"/>
                </a:solidFill>
                <a:latin typeface="Arial" panose="020B0604020202020204" pitchFamily="34" charset="0"/>
                <a:cs typeface="Arial" panose="020B0604020202020204" pitchFamily="34" charset="0"/>
              </a:rPr>
              <a:t>Active adoption: </a:t>
            </a:r>
          </a:p>
          <a:p>
            <a:pPr marL="628650" lvl="1" indent="-171450" algn="l">
              <a:lnSpc>
                <a:spcPct val="150000"/>
              </a:lnSpc>
              <a:buFont typeface="Wingdings" panose="05000000000000000000" pitchFamily="2" charset="2"/>
              <a:buChar char="q"/>
            </a:pPr>
            <a:r>
              <a:rPr lang="en-IN" sz="1200" b="1" dirty="0">
                <a:solidFill>
                  <a:schemeClr val="tx1"/>
                </a:solidFill>
                <a:latin typeface="Arial" panose="020B0604020202020204" pitchFamily="34" charset="0"/>
                <a:cs typeface="Arial" panose="020B0604020202020204" pitchFamily="34" charset="0"/>
              </a:rPr>
              <a:t>Adopted by &gt; 70%</a:t>
            </a:r>
            <a:r>
              <a:rPr lang="en-IN" sz="1200" dirty="0">
                <a:solidFill>
                  <a:schemeClr val="tx1"/>
                </a:solidFill>
                <a:latin typeface="Arial" panose="020B0604020202020204" pitchFamily="34" charset="0"/>
                <a:cs typeface="Arial" panose="020B0604020202020204" pitchFamily="34" charset="0"/>
              </a:rPr>
              <a:t>  employees of pilot project.</a:t>
            </a:r>
          </a:p>
          <a:p>
            <a:pPr marL="628650" lvl="1" indent="-171450" algn="l">
              <a:buFont typeface="Wingdings" panose="05000000000000000000" pitchFamily="2" charset="2"/>
              <a:buChar char="q"/>
            </a:pPr>
            <a:r>
              <a:rPr lang="en-IN" sz="1200" b="1" dirty="0">
                <a:solidFill>
                  <a:schemeClr val="tx1"/>
                </a:solidFill>
                <a:latin typeface="Arial" panose="020B0604020202020204" pitchFamily="34" charset="0"/>
                <a:cs typeface="Arial" panose="020B0604020202020204" pitchFamily="34" charset="0"/>
              </a:rPr>
              <a:t>Workspace seat booking interface improved by at least 50% </a:t>
            </a:r>
            <a:r>
              <a:rPr lang="en-IN" sz="1200" dirty="0">
                <a:solidFill>
                  <a:schemeClr val="tx1"/>
                </a:solidFill>
                <a:latin typeface="Arial" panose="020B0604020202020204" pitchFamily="34" charset="0"/>
                <a:cs typeface="Arial" panose="020B0604020202020204" pitchFamily="34" charset="0"/>
              </a:rPr>
              <a:t>in post‑pilot survey.</a:t>
            </a:r>
          </a:p>
          <a:p>
            <a:pPr marL="628650" lvl="1" indent="-171450" algn="l">
              <a:buFont typeface="Wingdings" panose="05000000000000000000" pitchFamily="2" charset="2"/>
              <a:buChar char="q"/>
            </a:pPr>
            <a:r>
              <a:rPr lang="en-IN" sz="1200" b="1" dirty="0">
                <a:solidFill>
                  <a:schemeClr val="tx1"/>
                </a:solidFill>
                <a:latin typeface="Arial" panose="020B0604020202020204" pitchFamily="34" charset="0"/>
                <a:cs typeface="Arial" panose="020B0604020202020204" pitchFamily="34" charset="0"/>
              </a:rPr>
              <a:t>Booking completed </a:t>
            </a:r>
            <a:r>
              <a:rPr lang="en-IN" sz="1200" dirty="0">
                <a:solidFill>
                  <a:schemeClr val="tx1"/>
                </a:solidFill>
                <a:latin typeface="Arial" panose="020B0604020202020204" pitchFamily="34" charset="0"/>
                <a:cs typeface="Arial" panose="020B0604020202020204" pitchFamily="34" charset="0"/>
              </a:rPr>
              <a:t>within</a:t>
            </a:r>
            <a:r>
              <a:rPr lang="en-IN" sz="1200" b="1" dirty="0">
                <a:solidFill>
                  <a:schemeClr val="tx1"/>
                </a:solidFill>
                <a:latin typeface="Arial" panose="020B0604020202020204" pitchFamily="34" charset="0"/>
                <a:cs typeface="Arial" panose="020B0604020202020204" pitchFamily="34" charset="0"/>
              </a:rPr>
              <a:t> 60 seconds</a:t>
            </a:r>
            <a:endParaRPr lang="en-IN" sz="1200" dirty="0">
              <a:solidFill>
                <a:schemeClr val="tx1"/>
              </a:solidFill>
              <a:latin typeface="Arial" panose="020B0604020202020204" pitchFamily="34" charset="0"/>
              <a:cs typeface="Arial" panose="020B0604020202020204" pitchFamily="34" charset="0"/>
            </a:endParaRPr>
          </a:p>
          <a:p>
            <a:pPr marL="171450" indent="-171450" algn="l">
              <a:buFont typeface="Wingdings" panose="05000000000000000000" pitchFamily="2" charset="2"/>
              <a:buChar char="q"/>
            </a:pPr>
            <a:r>
              <a:rPr lang="en-IN" sz="1200" b="1" dirty="0">
                <a:solidFill>
                  <a:schemeClr val="tx1"/>
                </a:solidFill>
                <a:latin typeface="Arial" panose="020B0604020202020204" pitchFamily="34" charset="0"/>
                <a:cs typeface="Arial" panose="020B0604020202020204" pitchFamily="34" charset="0"/>
              </a:rPr>
              <a:t>Occupancy, Booking and Analytics</a:t>
            </a:r>
          </a:p>
          <a:p>
            <a:pPr marL="628650" lvl="1" indent="-171450" algn="l">
              <a:buFont typeface="Wingdings" panose="05000000000000000000" pitchFamily="2" charset="2"/>
              <a:buChar char="q"/>
            </a:pPr>
            <a:r>
              <a:rPr lang="en-IN" sz="1200" b="1" dirty="0">
                <a:solidFill>
                  <a:schemeClr val="tx1"/>
                </a:solidFill>
                <a:latin typeface="Arial" panose="020B0604020202020204" pitchFamily="34" charset="0"/>
                <a:cs typeface="Arial" panose="020B0604020202020204" pitchFamily="34" charset="0"/>
              </a:rPr>
              <a:t>Check‑in compliance:</a:t>
            </a:r>
            <a:r>
              <a:rPr lang="en-IN" sz="1200" dirty="0">
                <a:solidFill>
                  <a:schemeClr val="tx1"/>
                </a:solidFill>
                <a:latin typeface="Arial" panose="020B0604020202020204" pitchFamily="34" charset="0"/>
                <a:cs typeface="Arial" panose="020B0604020202020204" pitchFamily="34" charset="0"/>
              </a:rPr>
              <a:t> </a:t>
            </a:r>
            <a:r>
              <a:rPr lang="en-IN" sz="1200" b="1" dirty="0">
                <a:solidFill>
                  <a:schemeClr val="tx1"/>
                </a:solidFill>
                <a:latin typeface="Arial" panose="020B0604020202020204" pitchFamily="34" charset="0"/>
                <a:cs typeface="Arial" panose="020B0604020202020204" pitchFamily="34" charset="0"/>
              </a:rPr>
              <a:t>Booking vs check‑in more than 80%</a:t>
            </a:r>
            <a:r>
              <a:rPr lang="en-IN" sz="1200" dirty="0">
                <a:solidFill>
                  <a:schemeClr val="tx1"/>
                </a:solidFill>
                <a:latin typeface="Arial" panose="020B0604020202020204" pitchFamily="34" charset="0"/>
                <a:cs typeface="Arial" panose="020B0604020202020204" pitchFamily="34" charset="0"/>
              </a:rPr>
              <a:t> by Employees.</a:t>
            </a:r>
          </a:p>
          <a:p>
            <a:pPr marL="628650" lvl="1" indent="-171450" algn="l">
              <a:buFont typeface="Wingdings" panose="05000000000000000000" pitchFamily="2" charset="2"/>
              <a:buChar char="q"/>
            </a:pPr>
            <a:r>
              <a:rPr lang="en-IN" sz="1200" b="1" dirty="0">
                <a:solidFill>
                  <a:schemeClr val="tx1"/>
                </a:solidFill>
                <a:latin typeface="Arial" panose="020B0604020202020204" pitchFamily="34" charset="0"/>
                <a:cs typeface="Arial" panose="020B0604020202020204" pitchFamily="34" charset="0"/>
              </a:rPr>
              <a:t>No‑show control:</a:t>
            </a:r>
            <a:r>
              <a:rPr lang="en-IN" sz="1200" dirty="0">
                <a:solidFill>
                  <a:schemeClr val="tx1"/>
                </a:solidFill>
                <a:latin typeface="Arial" panose="020B0604020202020204" pitchFamily="34" charset="0"/>
                <a:cs typeface="Arial" panose="020B0604020202020204" pitchFamily="34" charset="0"/>
              </a:rPr>
              <a:t> </a:t>
            </a:r>
            <a:r>
              <a:rPr lang="en-IN" sz="1200" b="1" dirty="0">
                <a:solidFill>
                  <a:schemeClr val="tx1"/>
                </a:solidFill>
                <a:latin typeface="Arial" panose="020B0604020202020204" pitchFamily="34" charset="0"/>
                <a:cs typeface="Arial" panose="020B0604020202020204" pitchFamily="34" charset="0"/>
              </a:rPr>
              <a:t>No‑show rate ≤20%</a:t>
            </a:r>
            <a:r>
              <a:rPr lang="en-IN" sz="1200" dirty="0">
                <a:solidFill>
                  <a:schemeClr val="tx1"/>
                </a:solidFill>
                <a:latin typeface="Arial" panose="020B0604020202020204" pitchFamily="34" charset="0"/>
                <a:cs typeface="Arial" panose="020B0604020202020204" pitchFamily="34" charset="0"/>
              </a:rPr>
              <a:t> after enforcement of check‑in rules.</a:t>
            </a:r>
          </a:p>
          <a:p>
            <a:pPr marL="628650" lvl="1" indent="-171450" algn="l">
              <a:buFont typeface="Wingdings" panose="05000000000000000000" pitchFamily="2" charset="2"/>
              <a:buChar char="q"/>
            </a:pPr>
            <a:r>
              <a:rPr lang="en-IN" sz="1200" b="1" dirty="0">
                <a:solidFill>
                  <a:schemeClr val="tx1"/>
                </a:solidFill>
                <a:latin typeface="Arial" panose="020B0604020202020204" pitchFamily="34" charset="0"/>
                <a:cs typeface="Arial" panose="020B0604020202020204" pitchFamily="34" charset="0"/>
              </a:rPr>
              <a:t>Utilization reporting:</a:t>
            </a:r>
            <a:r>
              <a:rPr lang="en-IN" sz="1200" dirty="0">
                <a:solidFill>
                  <a:schemeClr val="tx1"/>
                </a:solidFill>
                <a:latin typeface="Arial" panose="020B0604020202020204" pitchFamily="34" charset="0"/>
                <a:cs typeface="Arial" panose="020B0604020202020204" pitchFamily="34" charset="0"/>
              </a:rPr>
              <a:t> Daily occupancy, peak utilization, and no‑show reports available and accurate within </a:t>
            </a:r>
            <a:r>
              <a:rPr lang="en-IN" sz="1200" b="1" dirty="0">
                <a:solidFill>
                  <a:schemeClr val="tx1"/>
                </a:solidFill>
                <a:latin typeface="Arial" panose="020B0604020202020204" pitchFamily="34" charset="0"/>
                <a:cs typeface="Arial" panose="020B0604020202020204" pitchFamily="34" charset="0"/>
              </a:rPr>
              <a:t>24 hours</a:t>
            </a:r>
            <a:r>
              <a:rPr lang="en-IN" sz="1200" dirty="0">
                <a:solidFill>
                  <a:schemeClr val="tx1"/>
                </a:solidFill>
                <a:latin typeface="Arial" panose="020B0604020202020204" pitchFamily="34" charset="0"/>
                <a:cs typeface="Arial" panose="020B0604020202020204" pitchFamily="34" charset="0"/>
              </a:rPr>
              <a:t>.</a:t>
            </a:r>
          </a:p>
          <a:p>
            <a:pPr marL="171450" indent="-171450" algn="l">
              <a:buFont typeface="Wingdings" panose="05000000000000000000" pitchFamily="2" charset="2"/>
              <a:buChar char="q"/>
            </a:pPr>
            <a:r>
              <a:rPr lang="en-IN" sz="1200" b="1" dirty="0">
                <a:solidFill>
                  <a:schemeClr val="tx1"/>
                </a:solidFill>
                <a:latin typeface="Arial" panose="020B0604020202020204" pitchFamily="34" charset="0"/>
                <a:cs typeface="Arial" panose="020B0604020202020204" pitchFamily="34" charset="0"/>
              </a:rPr>
              <a:t>System Uptime and Availability</a:t>
            </a:r>
          </a:p>
          <a:p>
            <a:pPr marL="628650" lvl="1" indent="-171450" algn="l">
              <a:buFont typeface="Wingdings" panose="05000000000000000000" pitchFamily="2" charset="2"/>
              <a:buChar char="q"/>
            </a:pPr>
            <a:r>
              <a:rPr lang="en-IN" sz="1200" dirty="0">
                <a:solidFill>
                  <a:schemeClr val="tx1"/>
                </a:solidFill>
                <a:latin typeface="Arial" panose="020B0604020202020204" pitchFamily="34" charset="0"/>
                <a:cs typeface="Arial" panose="020B0604020202020204" pitchFamily="34" charset="0"/>
              </a:rPr>
              <a:t>The automated platform maintains at least 99% availability to keep services running without interruption.</a:t>
            </a:r>
          </a:p>
        </p:txBody>
      </p:sp>
    </p:spTree>
    <p:extLst>
      <p:ext uri="{BB962C8B-B14F-4D97-AF65-F5344CB8AC3E}">
        <p14:creationId xmlns:p14="http://schemas.microsoft.com/office/powerpoint/2010/main" val="6747132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EF19E-3CC5-D7FC-71E5-A44A3375E8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E9881D-CA4D-AA4A-5FA2-A69564EDE83C}"/>
              </a:ext>
            </a:extLst>
          </p:cNvPr>
          <p:cNvSpPr>
            <a:spLocks noGrp="1"/>
          </p:cNvSpPr>
          <p:nvPr>
            <p:ph type="ctrTitle"/>
          </p:nvPr>
        </p:nvSpPr>
        <p:spPr>
          <a:xfrm>
            <a:off x="800099" y="350901"/>
            <a:ext cx="8582025" cy="830785"/>
          </a:xfrm>
        </p:spPr>
        <p:txBody>
          <a:bodyPr>
            <a:normAutofit fontScale="90000"/>
          </a:bodyPr>
          <a:lstStyle/>
          <a:p>
            <a:pPr algn="l"/>
            <a:r>
              <a:rPr lang="en-US" dirty="0">
                <a:solidFill>
                  <a:schemeClr val="tx1"/>
                </a:solidFill>
                <a:latin typeface="Arial" panose="020B0604020202020204" pitchFamily="34" charset="0"/>
                <a:cs typeface="Arial" panose="020B0604020202020204" pitchFamily="34" charset="0"/>
              </a:rPr>
              <a:t>Method/Approach:</a:t>
            </a:r>
            <a:endParaRPr lang="en-IN" dirty="0">
              <a:solidFill>
                <a:schemeClr val="tx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8FB88310-981F-BA6B-358B-EA3F03016567}"/>
              </a:ext>
            </a:extLst>
          </p:cNvPr>
          <p:cNvSpPr>
            <a:spLocks noGrp="1"/>
          </p:cNvSpPr>
          <p:nvPr>
            <p:ph type="subTitle" idx="1"/>
          </p:nvPr>
        </p:nvSpPr>
        <p:spPr>
          <a:xfrm>
            <a:off x="800098" y="1288582"/>
            <a:ext cx="8820151" cy="5132095"/>
          </a:xfrm>
        </p:spPr>
        <p:txBody>
          <a:bodyPr>
            <a:noAutofit/>
          </a:bodyPr>
          <a:lstStyle/>
          <a:p>
            <a:pPr algn="l"/>
            <a:r>
              <a:rPr lang="en-IN" sz="1200" dirty="0">
                <a:solidFill>
                  <a:schemeClr val="tx1"/>
                </a:solidFill>
                <a:latin typeface="Arial" panose="020B0604020202020204" pitchFamily="34" charset="0"/>
                <a:cs typeface="Arial" panose="020B0604020202020204" pitchFamily="34" charset="0"/>
              </a:rPr>
              <a:t>For Building this application, we will use consider hybrid approach. All the Documentation work will be done in </a:t>
            </a:r>
            <a:r>
              <a:rPr lang="en-IN" sz="1200" b="1" dirty="0">
                <a:solidFill>
                  <a:schemeClr val="tx1"/>
                </a:solidFill>
                <a:latin typeface="Arial" panose="020B0604020202020204" pitchFamily="34" charset="0"/>
                <a:cs typeface="Arial" panose="020B0604020202020204" pitchFamily="34" charset="0"/>
              </a:rPr>
              <a:t>Waterfall model</a:t>
            </a:r>
            <a:r>
              <a:rPr lang="en-IN" sz="1200" dirty="0">
                <a:solidFill>
                  <a:schemeClr val="tx1"/>
                </a:solidFill>
                <a:latin typeface="Arial" panose="020B0604020202020204" pitchFamily="34" charset="0"/>
                <a:cs typeface="Arial" panose="020B0604020202020204" pitchFamily="34" charset="0"/>
              </a:rPr>
              <a:t> as it is sequential model. Application Development phase will be completed in </a:t>
            </a:r>
            <a:r>
              <a:rPr lang="en-IN" sz="1200" b="1" dirty="0">
                <a:solidFill>
                  <a:schemeClr val="tx1"/>
                </a:solidFill>
                <a:latin typeface="Arial" panose="020B0604020202020204" pitchFamily="34" charset="0"/>
                <a:cs typeface="Arial" panose="020B0604020202020204" pitchFamily="34" charset="0"/>
              </a:rPr>
              <a:t>Agile model</a:t>
            </a:r>
            <a:r>
              <a:rPr lang="en-IN" sz="1200" dirty="0">
                <a:solidFill>
                  <a:schemeClr val="tx1"/>
                </a:solidFill>
                <a:latin typeface="Arial" panose="020B0604020202020204" pitchFamily="34" charset="0"/>
                <a:cs typeface="Arial" panose="020B0604020202020204" pitchFamily="34" charset="0"/>
              </a:rPr>
              <a:t>.</a:t>
            </a:r>
          </a:p>
          <a:p>
            <a:pPr algn="l"/>
            <a:r>
              <a:rPr lang="en-IN" sz="1200" b="1" dirty="0">
                <a:solidFill>
                  <a:schemeClr val="tx1"/>
                </a:solidFill>
                <a:latin typeface="Arial" panose="020B0604020202020204" pitchFamily="34" charset="0"/>
                <a:cs typeface="Arial" panose="020B0604020202020204" pitchFamily="34" charset="0"/>
              </a:rPr>
              <a:t>1. Requirement Gathering:</a:t>
            </a:r>
          </a:p>
          <a:p>
            <a:pPr marL="171450" indent="-171450" algn="l">
              <a:buFont typeface="Wingdings" panose="05000000000000000000" pitchFamily="2" charset="2"/>
              <a:buChar char="q"/>
            </a:pPr>
            <a:r>
              <a:rPr lang="en-IN" sz="1200" dirty="0">
                <a:solidFill>
                  <a:schemeClr val="tx1"/>
                </a:solidFill>
                <a:latin typeface="Arial" panose="020B0604020202020204" pitchFamily="34" charset="0"/>
                <a:cs typeface="Arial" panose="020B0604020202020204" pitchFamily="34" charset="0"/>
              </a:rPr>
              <a:t>Firstly need to understand the Business Requirement to identify the exact need of the. Try to explore different seat booking applications i.e. BookmyShow.com, Bus Seat Booking Application, Train Boking Application, etc. Apply Questionnaire, Brainstorming</a:t>
            </a:r>
          </a:p>
          <a:p>
            <a:pPr marL="171450" indent="-171450" algn="l">
              <a:buFont typeface="Wingdings" panose="05000000000000000000" pitchFamily="2" charset="2"/>
              <a:buChar char="q"/>
            </a:pPr>
            <a:r>
              <a:rPr lang="en-IN" sz="1200" dirty="0">
                <a:solidFill>
                  <a:schemeClr val="tx1"/>
                </a:solidFill>
                <a:latin typeface="Arial" panose="020B0604020202020204" pitchFamily="34" charset="0"/>
                <a:cs typeface="Arial" panose="020B0604020202020204" pitchFamily="34" charset="0"/>
              </a:rPr>
              <a:t>Prepare document for Business Requirements, Functional/Non-Functional Requirements.</a:t>
            </a:r>
          </a:p>
          <a:p>
            <a:pPr algn="l"/>
            <a:r>
              <a:rPr lang="en-IN" sz="1200" b="1" dirty="0">
                <a:solidFill>
                  <a:schemeClr val="tx1"/>
                </a:solidFill>
                <a:latin typeface="Arial" panose="020B0604020202020204" pitchFamily="34" charset="0"/>
                <a:cs typeface="Arial" panose="020B0604020202020204" pitchFamily="34" charset="0"/>
              </a:rPr>
              <a:t>2. System Designing:</a:t>
            </a:r>
          </a:p>
          <a:p>
            <a:pPr marL="171450" indent="-171450" algn="l">
              <a:buFont typeface="Wingdings" panose="05000000000000000000" pitchFamily="2" charset="2"/>
              <a:buChar char="q"/>
            </a:pPr>
            <a:r>
              <a:rPr lang="en-IN" sz="1200" dirty="0">
                <a:solidFill>
                  <a:schemeClr val="tx1"/>
                </a:solidFill>
                <a:latin typeface="Arial" panose="020B0604020202020204" pitchFamily="34" charset="0"/>
                <a:cs typeface="Arial" panose="020B0604020202020204" pitchFamily="34" charset="0"/>
              </a:rPr>
              <a:t>Create system Flow/design along with Use Cases, Flow Chart and Prototyping</a:t>
            </a:r>
          </a:p>
          <a:p>
            <a:pPr marL="171450" indent="-171450" algn="l">
              <a:buFont typeface="Wingdings" panose="05000000000000000000" pitchFamily="2" charset="2"/>
              <a:buChar char="q"/>
            </a:pPr>
            <a:r>
              <a:rPr lang="en-IN" sz="1200" dirty="0">
                <a:solidFill>
                  <a:schemeClr val="tx1"/>
                </a:solidFill>
                <a:latin typeface="Arial" panose="020B0604020202020204" pitchFamily="34" charset="0"/>
                <a:cs typeface="Arial" panose="020B0604020202020204" pitchFamily="34" charset="0"/>
              </a:rPr>
              <a:t>Also, Prepare Database schema/Architecture and Network Architecture</a:t>
            </a:r>
            <a:endParaRPr lang="en-IN" sz="1200" b="1" dirty="0">
              <a:solidFill>
                <a:schemeClr val="tx1"/>
              </a:solidFill>
              <a:latin typeface="Arial" panose="020B0604020202020204" pitchFamily="34" charset="0"/>
              <a:cs typeface="Arial" panose="020B0604020202020204" pitchFamily="34" charset="0"/>
            </a:endParaRPr>
          </a:p>
          <a:p>
            <a:pPr algn="l"/>
            <a:r>
              <a:rPr lang="en-IN" sz="1200" b="1" dirty="0">
                <a:solidFill>
                  <a:schemeClr val="tx1"/>
                </a:solidFill>
                <a:latin typeface="Arial" panose="020B0604020202020204" pitchFamily="34" charset="0"/>
                <a:cs typeface="Arial" panose="020B0604020202020204" pitchFamily="34" charset="0"/>
              </a:rPr>
              <a:t>3. Development:</a:t>
            </a:r>
          </a:p>
          <a:p>
            <a:pPr marL="171450" indent="-171450" algn="l">
              <a:buFont typeface="Wingdings" panose="05000000000000000000" pitchFamily="2" charset="2"/>
              <a:buChar char="q"/>
            </a:pPr>
            <a:r>
              <a:rPr lang="en-IN" sz="1200" dirty="0">
                <a:solidFill>
                  <a:schemeClr val="tx1"/>
                </a:solidFill>
                <a:latin typeface="Arial" panose="020B0604020202020204" pitchFamily="34" charset="0"/>
                <a:cs typeface="Arial" panose="020B0604020202020204" pitchFamily="34" charset="0"/>
              </a:rPr>
              <a:t>Follow Agile Model for developing application. Follow the following modules</a:t>
            </a:r>
          </a:p>
          <a:p>
            <a:pPr marL="628650" lvl="1" indent="-171450" algn="l">
              <a:buFont typeface="Wingdings" panose="05000000000000000000" pitchFamily="2" charset="2"/>
              <a:buChar char="q"/>
            </a:pPr>
            <a:r>
              <a:rPr lang="en-IN" sz="1100" dirty="0">
                <a:solidFill>
                  <a:schemeClr val="tx1"/>
                </a:solidFill>
                <a:latin typeface="Arial" panose="020B0604020202020204" pitchFamily="34" charset="0"/>
                <a:cs typeface="Arial" panose="020B0604020202020204" pitchFamily="34" charset="0"/>
              </a:rPr>
              <a:t>User Registration, User Login via SSO login</a:t>
            </a:r>
          </a:p>
          <a:p>
            <a:pPr marL="628650" lvl="1" indent="-171450" algn="l">
              <a:buFont typeface="Wingdings" panose="05000000000000000000" pitchFamily="2" charset="2"/>
              <a:buChar char="q"/>
            </a:pPr>
            <a:r>
              <a:rPr lang="en-IN" sz="1100" dirty="0">
                <a:solidFill>
                  <a:schemeClr val="tx1"/>
                </a:solidFill>
                <a:latin typeface="Arial" panose="020B0604020202020204" pitchFamily="34" charset="0"/>
                <a:cs typeface="Arial" panose="020B0604020202020204" pitchFamily="34" charset="0"/>
              </a:rPr>
              <a:t>Select Building floor plan, select seats and select Date/Date-Range and Confirm the seat.</a:t>
            </a:r>
          </a:p>
          <a:p>
            <a:pPr marL="628650" lvl="1" indent="-171450" algn="l">
              <a:buFont typeface="Wingdings" panose="05000000000000000000" pitchFamily="2" charset="2"/>
              <a:buChar char="q"/>
            </a:pPr>
            <a:r>
              <a:rPr lang="en-IN" sz="1100" dirty="0">
                <a:solidFill>
                  <a:schemeClr val="tx1"/>
                </a:solidFill>
                <a:latin typeface="Arial" panose="020B0604020202020204" pitchFamily="34" charset="0"/>
                <a:cs typeface="Arial" panose="020B0604020202020204" pitchFamily="34" charset="0"/>
              </a:rPr>
              <a:t>User and Reporting manager will receive booking confirmation.</a:t>
            </a:r>
            <a:endParaRPr lang="en-IN" sz="1000" dirty="0">
              <a:solidFill>
                <a:schemeClr val="tx1"/>
              </a:solidFill>
              <a:latin typeface="Arial" panose="020B0604020202020204" pitchFamily="34" charset="0"/>
              <a:cs typeface="Arial" panose="020B0604020202020204" pitchFamily="34" charset="0"/>
            </a:endParaRPr>
          </a:p>
          <a:p>
            <a:pPr algn="l"/>
            <a:r>
              <a:rPr lang="en-IN" sz="1200" b="1" dirty="0">
                <a:solidFill>
                  <a:schemeClr val="tx1"/>
                </a:solidFill>
                <a:latin typeface="Arial" panose="020B0604020202020204" pitchFamily="34" charset="0"/>
                <a:cs typeface="Arial" panose="020B0604020202020204" pitchFamily="34" charset="0"/>
              </a:rPr>
              <a:t>4. Testing:</a:t>
            </a:r>
            <a:r>
              <a:rPr lang="en-IN" sz="1200" dirty="0">
                <a:solidFill>
                  <a:schemeClr val="tx1"/>
                </a:solidFill>
                <a:latin typeface="Arial" panose="020B0604020202020204" pitchFamily="34" charset="0"/>
                <a:cs typeface="Arial" panose="020B0604020202020204" pitchFamily="34" charset="0"/>
              </a:rPr>
              <a:t> Conduct the UAT for Booking tickets, same seat booking done by 2 employees, etc. UAT done on UAT server.</a:t>
            </a:r>
          </a:p>
          <a:p>
            <a:pPr algn="l"/>
            <a:r>
              <a:rPr lang="en-IN" sz="1200" b="1" dirty="0">
                <a:solidFill>
                  <a:schemeClr val="tx1"/>
                </a:solidFill>
                <a:latin typeface="Arial" panose="020B0604020202020204" pitchFamily="34" charset="0"/>
                <a:cs typeface="Arial" panose="020B0604020202020204" pitchFamily="34" charset="0"/>
              </a:rPr>
              <a:t>5. Deployment: </a:t>
            </a:r>
            <a:r>
              <a:rPr lang="en-IN" sz="1200" dirty="0">
                <a:solidFill>
                  <a:schemeClr val="tx1"/>
                </a:solidFill>
                <a:latin typeface="Arial" panose="020B0604020202020204" pitchFamily="34" charset="0"/>
                <a:cs typeface="Arial" panose="020B0604020202020204" pitchFamily="34" charset="0"/>
              </a:rPr>
              <a:t>After UAT, Deploy the application will deploy to Production Server. </a:t>
            </a:r>
          </a:p>
          <a:p>
            <a:pPr algn="l"/>
            <a:r>
              <a:rPr lang="en-IN" sz="1200" b="1" dirty="0">
                <a:solidFill>
                  <a:schemeClr val="tx1"/>
                </a:solidFill>
                <a:latin typeface="Arial" panose="020B0604020202020204" pitchFamily="34" charset="0"/>
                <a:cs typeface="Arial" panose="020B0604020202020204" pitchFamily="34" charset="0"/>
              </a:rPr>
              <a:t>6. Maintenance and Support: </a:t>
            </a:r>
            <a:r>
              <a:rPr lang="en-IN" sz="1200" dirty="0">
                <a:solidFill>
                  <a:schemeClr val="tx1"/>
                </a:solidFill>
                <a:latin typeface="Arial" panose="020B0604020202020204" pitchFamily="34" charset="0"/>
                <a:cs typeface="Arial" panose="020B0604020202020204" pitchFamily="34" charset="0"/>
              </a:rPr>
              <a:t>Provide post-deployment support for bug files, performance increased and enhancements.</a:t>
            </a:r>
            <a:endParaRPr lang="en-IN" sz="12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75220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B03DB-189D-7FAA-9EA8-83FE5D04C8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0B5FFF-D1ED-08BF-A39C-FC8BF6F66145}"/>
              </a:ext>
            </a:extLst>
          </p:cNvPr>
          <p:cNvSpPr>
            <a:spLocks noGrp="1"/>
          </p:cNvSpPr>
          <p:nvPr>
            <p:ph type="ctrTitle"/>
          </p:nvPr>
        </p:nvSpPr>
        <p:spPr>
          <a:xfrm>
            <a:off x="800099" y="350901"/>
            <a:ext cx="8582025" cy="830785"/>
          </a:xfrm>
        </p:spPr>
        <p:txBody>
          <a:bodyPr>
            <a:normAutofit fontScale="90000"/>
          </a:bodyPr>
          <a:lstStyle/>
          <a:p>
            <a:pPr algn="l"/>
            <a:r>
              <a:rPr lang="en-US" dirty="0">
                <a:solidFill>
                  <a:schemeClr val="tx1"/>
                </a:solidFill>
                <a:latin typeface="Arial" panose="020B0604020202020204" pitchFamily="34" charset="0"/>
                <a:cs typeface="Arial" panose="020B0604020202020204" pitchFamily="34" charset="0"/>
              </a:rPr>
              <a:t>Resources:</a:t>
            </a:r>
            <a:endParaRPr lang="en-IN" dirty="0">
              <a:solidFill>
                <a:schemeClr val="tx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76E070F7-5074-FA92-57ED-E72D638237F6}"/>
              </a:ext>
            </a:extLst>
          </p:cNvPr>
          <p:cNvSpPr>
            <a:spLocks noGrp="1"/>
          </p:cNvSpPr>
          <p:nvPr>
            <p:ph type="subTitle" idx="1"/>
          </p:nvPr>
        </p:nvSpPr>
        <p:spPr>
          <a:xfrm>
            <a:off x="800098" y="1288583"/>
            <a:ext cx="8820151" cy="4150192"/>
          </a:xfrm>
        </p:spPr>
        <p:txBody>
          <a:bodyPr>
            <a:normAutofit lnSpcReduction="10000"/>
          </a:bodyPr>
          <a:lstStyle/>
          <a:p>
            <a:pPr algn="l">
              <a:spcBef>
                <a:spcPts val="0"/>
              </a:spcBef>
            </a:pPr>
            <a:r>
              <a:rPr lang="en-US" sz="1200" b="1" dirty="0">
                <a:solidFill>
                  <a:schemeClr val="tx1"/>
                </a:solidFill>
                <a:latin typeface="Arial" panose="020B0604020202020204" pitchFamily="34" charset="0"/>
                <a:cs typeface="Arial" panose="020B0604020202020204" pitchFamily="34" charset="0"/>
              </a:rPr>
              <a:t>Human/People Resources:</a:t>
            </a:r>
          </a:p>
          <a:p>
            <a:pPr algn="l">
              <a:spcBef>
                <a:spcPts val="0"/>
              </a:spcBef>
            </a:pPr>
            <a:r>
              <a:rPr lang="en-IN" sz="1200" b="1" dirty="0">
                <a:solidFill>
                  <a:schemeClr val="tx1"/>
                </a:solidFill>
                <a:latin typeface="Arial" panose="020B0604020202020204" pitchFamily="34" charset="0"/>
                <a:cs typeface="Arial" panose="020B0604020202020204" pitchFamily="34" charset="0"/>
              </a:rPr>
              <a:t> Project Manager (1)</a:t>
            </a:r>
            <a:r>
              <a:rPr lang="en-IN" sz="1200" dirty="0">
                <a:solidFill>
                  <a:schemeClr val="tx1"/>
                </a:solidFill>
                <a:latin typeface="Arial" panose="020B0604020202020204" pitchFamily="34" charset="0"/>
                <a:cs typeface="Arial" panose="020B0604020202020204" pitchFamily="34" charset="0"/>
              </a:rPr>
              <a:t> —Responsible look for Project Delivery and see overall delivery, client coordination, schedule and collaboration with each team. Responsible for </a:t>
            </a:r>
            <a:r>
              <a:rPr lang="en-IN" sz="1200" dirty="0" err="1">
                <a:solidFill>
                  <a:schemeClr val="tx1"/>
                </a:solidFill>
                <a:latin typeface="Arial" panose="020B0604020202020204" pitchFamily="34" charset="0"/>
                <a:cs typeface="Arial" panose="020B0604020202020204" pitchFamily="34" charset="0"/>
              </a:rPr>
              <a:t>defininig</a:t>
            </a:r>
            <a:r>
              <a:rPr lang="en-IN" sz="1200" dirty="0">
                <a:solidFill>
                  <a:schemeClr val="tx1"/>
                </a:solidFill>
                <a:latin typeface="Arial" panose="020B0604020202020204" pitchFamily="34" charset="0"/>
                <a:cs typeface="Arial" panose="020B0604020202020204" pitchFamily="34" charset="0"/>
              </a:rPr>
              <a:t> priorities, acceptance of features</a:t>
            </a:r>
          </a:p>
          <a:p>
            <a:pPr algn="l">
              <a:spcBef>
                <a:spcPts val="0"/>
              </a:spcBef>
            </a:pPr>
            <a:r>
              <a:rPr lang="en-IN" sz="1200" b="1" dirty="0">
                <a:solidFill>
                  <a:schemeClr val="tx1"/>
                </a:solidFill>
                <a:latin typeface="Arial" panose="020B0604020202020204" pitchFamily="34" charset="0"/>
                <a:cs typeface="Arial" panose="020B0604020202020204" pitchFamily="34" charset="0"/>
              </a:rPr>
              <a:t> Business Analyst (1)</a:t>
            </a:r>
            <a:r>
              <a:rPr lang="en-IN" sz="1200" dirty="0">
                <a:solidFill>
                  <a:schemeClr val="tx1"/>
                </a:solidFill>
                <a:latin typeface="Arial" panose="020B0604020202020204" pitchFamily="34" charset="0"/>
                <a:cs typeface="Arial" panose="020B0604020202020204" pitchFamily="34" charset="0"/>
              </a:rPr>
              <a:t> —Requirement Gathering, Documentation, Support in UAT/Go Live environment and in maintenance.</a:t>
            </a:r>
          </a:p>
          <a:p>
            <a:pPr algn="l">
              <a:spcBef>
                <a:spcPts val="0"/>
              </a:spcBef>
            </a:pPr>
            <a:r>
              <a:rPr lang="en-IN" sz="1200" b="1" dirty="0">
                <a:solidFill>
                  <a:schemeClr val="tx1"/>
                </a:solidFill>
                <a:latin typeface="Arial" panose="020B0604020202020204" pitchFamily="34" charset="0"/>
                <a:cs typeface="Arial" panose="020B0604020202020204" pitchFamily="34" charset="0"/>
              </a:rPr>
              <a:t> Database Admin (1)</a:t>
            </a:r>
            <a:r>
              <a:rPr lang="en-IN" sz="1200" dirty="0">
                <a:solidFill>
                  <a:schemeClr val="tx1"/>
                </a:solidFill>
                <a:latin typeface="Arial" panose="020B0604020202020204" pitchFamily="34" charset="0"/>
                <a:cs typeface="Arial" panose="020B0604020202020204" pitchFamily="34" charset="0"/>
              </a:rPr>
              <a:t> — Design Database Schema and manage to store information related to workspace seats.</a:t>
            </a:r>
          </a:p>
          <a:p>
            <a:pPr algn="l">
              <a:spcBef>
                <a:spcPts val="0"/>
              </a:spcBef>
            </a:pPr>
            <a:r>
              <a:rPr lang="en-IN" sz="1200" b="1" dirty="0">
                <a:solidFill>
                  <a:schemeClr val="tx1"/>
                </a:solidFill>
                <a:latin typeface="Arial" panose="020B0604020202020204" pitchFamily="34" charset="0"/>
                <a:cs typeface="Arial" panose="020B0604020202020204" pitchFamily="34" charset="0"/>
              </a:rPr>
              <a:t> Developers (5)</a:t>
            </a:r>
            <a:r>
              <a:rPr lang="en-IN" sz="1200" dirty="0">
                <a:solidFill>
                  <a:schemeClr val="tx1"/>
                </a:solidFill>
                <a:latin typeface="Arial" panose="020B0604020202020204" pitchFamily="34" charset="0"/>
                <a:cs typeface="Arial" panose="020B0604020202020204" pitchFamily="34" charset="0"/>
              </a:rPr>
              <a:t> — APIs, booking logic, integrations, Web/Mobile UI, Desk/Room/Floor Maps</a:t>
            </a:r>
          </a:p>
          <a:p>
            <a:pPr algn="l">
              <a:spcBef>
                <a:spcPts val="0"/>
              </a:spcBef>
            </a:pPr>
            <a:r>
              <a:rPr lang="en-IN" sz="1200" b="1" dirty="0">
                <a:solidFill>
                  <a:schemeClr val="tx1"/>
                </a:solidFill>
                <a:latin typeface="Arial" panose="020B0604020202020204" pitchFamily="34" charset="0"/>
                <a:cs typeface="Arial" panose="020B0604020202020204" pitchFamily="34" charset="0"/>
              </a:rPr>
              <a:t> Testers (1–2)</a:t>
            </a:r>
            <a:r>
              <a:rPr lang="en-IN" sz="1200" dirty="0">
                <a:solidFill>
                  <a:schemeClr val="tx1"/>
                </a:solidFill>
                <a:latin typeface="Arial" panose="020B0604020202020204" pitchFamily="34" charset="0"/>
                <a:cs typeface="Arial" panose="020B0604020202020204" pitchFamily="34" charset="0"/>
              </a:rPr>
              <a:t> — Prepare detailed testing plan i.e. UNIT Testing, Integration Testing, System Testing &amp; UAT.</a:t>
            </a:r>
          </a:p>
          <a:p>
            <a:pPr algn="l">
              <a:spcBef>
                <a:spcPts val="0"/>
              </a:spcBef>
            </a:pPr>
            <a:endParaRPr lang="en-IN" sz="1200" dirty="0">
              <a:solidFill>
                <a:schemeClr val="tx1"/>
              </a:solidFill>
              <a:latin typeface="Arial" panose="020B0604020202020204" pitchFamily="34" charset="0"/>
              <a:cs typeface="Arial" panose="020B0604020202020204" pitchFamily="34" charset="0"/>
            </a:endParaRPr>
          </a:p>
          <a:p>
            <a:pPr algn="l">
              <a:spcBef>
                <a:spcPts val="0"/>
              </a:spcBef>
            </a:pPr>
            <a:r>
              <a:rPr lang="en-US" sz="1200" b="1" dirty="0">
                <a:solidFill>
                  <a:schemeClr val="tx1"/>
                </a:solidFill>
                <a:latin typeface="Arial" panose="020B0604020202020204" pitchFamily="34" charset="0"/>
                <a:cs typeface="Arial" panose="020B0604020202020204" pitchFamily="34" charset="0"/>
              </a:rPr>
              <a:t>Timeline:</a:t>
            </a:r>
          </a:p>
          <a:p>
            <a:pPr algn="l">
              <a:spcBef>
                <a:spcPts val="0"/>
              </a:spcBef>
            </a:pPr>
            <a:r>
              <a:rPr lang="en-IN" sz="1200" b="1" dirty="0">
                <a:solidFill>
                  <a:schemeClr val="tx1"/>
                </a:solidFill>
                <a:latin typeface="Arial" panose="020B0604020202020204" pitchFamily="34" charset="0"/>
                <a:cs typeface="Arial" panose="020B0604020202020204" pitchFamily="34" charset="0"/>
              </a:rPr>
              <a:t>  Estimated Timeline for Project Delivery:</a:t>
            </a:r>
            <a:r>
              <a:rPr lang="en-IN" sz="1200" dirty="0">
                <a:solidFill>
                  <a:schemeClr val="tx1"/>
                </a:solidFill>
                <a:latin typeface="Arial" panose="020B0604020202020204" pitchFamily="34" charset="0"/>
                <a:cs typeface="Arial" panose="020B0604020202020204" pitchFamily="34" charset="0"/>
              </a:rPr>
              <a:t> 4-5 Months.</a:t>
            </a:r>
          </a:p>
          <a:p>
            <a:pPr algn="l">
              <a:spcBef>
                <a:spcPts val="0"/>
              </a:spcBef>
            </a:pPr>
            <a:r>
              <a:rPr lang="en-IN" sz="1200" dirty="0">
                <a:solidFill>
                  <a:schemeClr val="tx1"/>
                </a:solidFill>
                <a:latin typeface="Arial" panose="020B0604020202020204" pitchFamily="34" charset="0"/>
                <a:cs typeface="Arial" panose="020B0604020202020204" pitchFamily="34" charset="0"/>
              </a:rPr>
              <a:t>	Requirement Gathering and Analysis- 1 Month</a:t>
            </a:r>
          </a:p>
          <a:p>
            <a:pPr algn="l">
              <a:spcBef>
                <a:spcPts val="0"/>
              </a:spcBef>
            </a:pPr>
            <a:r>
              <a:rPr lang="en-IN" sz="1200" dirty="0">
                <a:solidFill>
                  <a:schemeClr val="tx1"/>
                </a:solidFill>
                <a:latin typeface="Arial" panose="020B0604020202020204" pitchFamily="34" charset="0"/>
                <a:cs typeface="Arial" panose="020B0604020202020204" pitchFamily="34" charset="0"/>
              </a:rPr>
              <a:t>	System Design – 1 Month</a:t>
            </a:r>
          </a:p>
          <a:p>
            <a:pPr algn="l">
              <a:spcBef>
                <a:spcPts val="0"/>
              </a:spcBef>
            </a:pPr>
            <a:r>
              <a:rPr lang="en-IN" sz="1200" dirty="0">
                <a:solidFill>
                  <a:schemeClr val="tx1"/>
                </a:solidFill>
                <a:latin typeface="Arial" panose="020B0604020202020204" pitchFamily="34" charset="0"/>
                <a:cs typeface="Arial" panose="020B0604020202020204" pitchFamily="34" charset="0"/>
              </a:rPr>
              <a:t>	Development &amp; Testing- 3 Month</a:t>
            </a:r>
          </a:p>
          <a:p>
            <a:pPr algn="l">
              <a:spcBef>
                <a:spcPts val="0"/>
              </a:spcBef>
            </a:pPr>
            <a:r>
              <a:rPr lang="en-IN" sz="1200" dirty="0">
                <a:solidFill>
                  <a:schemeClr val="tx1"/>
                </a:solidFill>
                <a:latin typeface="Arial" panose="020B0604020202020204" pitchFamily="34" charset="0"/>
                <a:cs typeface="Arial" panose="020B0604020202020204" pitchFamily="34" charset="0"/>
              </a:rPr>
              <a:t>	</a:t>
            </a:r>
          </a:p>
          <a:p>
            <a:pPr algn="l">
              <a:spcBef>
                <a:spcPts val="0"/>
              </a:spcBef>
            </a:pPr>
            <a:endParaRPr lang="en-IN" sz="1200" dirty="0">
              <a:solidFill>
                <a:schemeClr val="tx1"/>
              </a:solidFill>
              <a:latin typeface="Arial" panose="020B0604020202020204" pitchFamily="34" charset="0"/>
              <a:cs typeface="Arial" panose="020B0604020202020204" pitchFamily="34" charset="0"/>
            </a:endParaRPr>
          </a:p>
          <a:p>
            <a:pPr algn="l">
              <a:spcBef>
                <a:spcPts val="0"/>
              </a:spcBef>
            </a:pPr>
            <a:r>
              <a:rPr lang="en-US" sz="1200" b="1" dirty="0">
                <a:solidFill>
                  <a:schemeClr val="tx1"/>
                </a:solidFill>
                <a:latin typeface="Arial" panose="020B0604020202020204" pitchFamily="34" charset="0"/>
                <a:cs typeface="Arial" panose="020B0604020202020204" pitchFamily="34" charset="0"/>
              </a:rPr>
              <a:t>Budget: </a:t>
            </a:r>
            <a:r>
              <a:rPr lang="en-US" sz="1200" dirty="0">
                <a:solidFill>
                  <a:schemeClr val="tx1"/>
                </a:solidFill>
                <a:latin typeface="Arial" panose="020B0604020202020204" pitchFamily="34" charset="0"/>
                <a:cs typeface="Arial" panose="020B0604020202020204" pitchFamily="34" charset="0"/>
              </a:rPr>
              <a:t>Estimated Budget 60 Lakh INR </a:t>
            </a:r>
            <a:endParaRPr lang="en-US" sz="1200" b="1" dirty="0">
              <a:solidFill>
                <a:schemeClr val="tx1"/>
              </a:solidFill>
              <a:latin typeface="Arial" panose="020B0604020202020204" pitchFamily="34" charset="0"/>
              <a:cs typeface="Arial" panose="020B0604020202020204" pitchFamily="34" charset="0"/>
            </a:endParaRPr>
          </a:p>
          <a:p>
            <a:pPr algn="l">
              <a:spcBef>
                <a:spcPts val="0"/>
              </a:spcBef>
            </a:pPr>
            <a:endParaRPr lang="en-IN" sz="1200" dirty="0">
              <a:solidFill>
                <a:schemeClr val="tx1"/>
              </a:solidFill>
              <a:latin typeface="Arial" panose="020B0604020202020204" pitchFamily="34" charset="0"/>
              <a:cs typeface="Arial" panose="020B0604020202020204" pitchFamily="34" charset="0"/>
            </a:endParaRPr>
          </a:p>
          <a:p>
            <a:pPr algn="l">
              <a:spcBef>
                <a:spcPts val="0"/>
              </a:spcBef>
            </a:pPr>
            <a:endParaRPr lang="en-IN" sz="1200" dirty="0">
              <a:solidFill>
                <a:schemeClr val="tx1"/>
              </a:solidFill>
              <a:latin typeface="Arial" panose="020B0604020202020204" pitchFamily="34" charset="0"/>
              <a:cs typeface="Arial" panose="020B0604020202020204" pitchFamily="34" charset="0"/>
            </a:endParaRPr>
          </a:p>
          <a:p>
            <a:pPr algn="l">
              <a:spcBef>
                <a:spcPts val="0"/>
              </a:spcBef>
            </a:pPr>
            <a:endParaRPr lang="en-IN" sz="1200" dirty="0">
              <a:solidFill>
                <a:schemeClr val="tx1"/>
              </a:solidFill>
              <a:latin typeface="Arial" panose="020B0604020202020204" pitchFamily="34" charset="0"/>
              <a:cs typeface="Arial" panose="020B0604020202020204" pitchFamily="34" charset="0"/>
            </a:endParaRPr>
          </a:p>
          <a:p>
            <a:pPr algn="l">
              <a:spcBef>
                <a:spcPts val="0"/>
              </a:spcBef>
            </a:pPr>
            <a:r>
              <a:rPr lang="en-US" sz="1200" b="1" dirty="0">
                <a:solidFill>
                  <a:schemeClr val="tx1"/>
                </a:solidFill>
                <a:latin typeface="Arial" panose="020B0604020202020204" pitchFamily="34" charset="0"/>
                <a:cs typeface="Arial" panose="020B0604020202020204" pitchFamily="34" charset="0"/>
              </a:rPr>
              <a:t>Other Resources:</a:t>
            </a:r>
          </a:p>
          <a:p>
            <a:pPr algn="l">
              <a:spcBef>
                <a:spcPts val="0"/>
              </a:spcBef>
            </a:pPr>
            <a:r>
              <a:rPr lang="en-IN" sz="1200" dirty="0">
                <a:solidFill>
                  <a:schemeClr val="tx1"/>
                </a:solidFill>
                <a:latin typeface="Arial" panose="020B0604020202020204" pitchFamily="34" charset="0"/>
                <a:cs typeface="Arial" panose="020B0604020202020204" pitchFamily="34" charset="0"/>
              </a:rPr>
              <a:t> </a:t>
            </a:r>
            <a:r>
              <a:rPr lang="en-IN" sz="1200" b="1" dirty="0">
                <a:solidFill>
                  <a:schemeClr val="tx1"/>
                </a:solidFill>
                <a:latin typeface="Arial" panose="020B0604020202020204" pitchFamily="34" charset="0"/>
                <a:cs typeface="Arial" panose="020B0604020202020204" pitchFamily="34" charset="0"/>
              </a:rPr>
              <a:t>Hardware:</a:t>
            </a:r>
            <a:r>
              <a:rPr lang="en-IN" sz="1200" dirty="0">
                <a:solidFill>
                  <a:schemeClr val="tx1"/>
                </a:solidFill>
                <a:latin typeface="Arial" panose="020B0604020202020204" pitchFamily="34" charset="0"/>
                <a:cs typeface="Arial" panose="020B0604020202020204" pitchFamily="34" charset="0"/>
              </a:rPr>
              <a:t> Dedicated servers for hosting the application and database. Also, focus on Backup and Business Continuity Plan.</a:t>
            </a:r>
          </a:p>
          <a:p>
            <a:pPr algn="l">
              <a:spcBef>
                <a:spcPts val="0"/>
              </a:spcBef>
            </a:pPr>
            <a:r>
              <a:rPr lang="en-IN" sz="1200" dirty="0">
                <a:solidFill>
                  <a:schemeClr val="tx1"/>
                </a:solidFill>
                <a:latin typeface="Arial" panose="020B0604020202020204" pitchFamily="34" charset="0"/>
                <a:cs typeface="Arial" panose="020B0604020202020204" pitchFamily="34" charset="0"/>
              </a:rPr>
              <a:t> </a:t>
            </a:r>
            <a:r>
              <a:rPr lang="en-IN" sz="1200" b="1" dirty="0">
                <a:solidFill>
                  <a:schemeClr val="tx1"/>
                </a:solidFill>
                <a:latin typeface="Arial" panose="020B0604020202020204" pitchFamily="34" charset="0"/>
                <a:cs typeface="Arial" panose="020B0604020202020204" pitchFamily="34" charset="0"/>
              </a:rPr>
              <a:t>Software:</a:t>
            </a:r>
            <a:r>
              <a:rPr lang="en-IN" sz="1200" dirty="0">
                <a:solidFill>
                  <a:schemeClr val="tx1"/>
                </a:solidFill>
                <a:latin typeface="Arial" panose="020B0604020202020204" pitchFamily="34" charset="0"/>
                <a:cs typeface="Arial" panose="020B0604020202020204" pitchFamily="34" charset="0"/>
              </a:rPr>
              <a:t> Development tools (Database Tools, Java IDEs), Automated E-mail parsing tools, </a:t>
            </a:r>
          </a:p>
          <a:p>
            <a:pPr algn="l">
              <a:spcBef>
                <a:spcPts val="0"/>
              </a:spcBef>
            </a:pPr>
            <a:r>
              <a:rPr lang="en-IN" sz="1200" dirty="0">
                <a:solidFill>
                  <a:schemeClr val="tx1"/>
                </a:solidFill>
                <a:latin typeface="Arial" panose="020B0604020202020204" pitchFamily="34" charset="0"/>
                <a:cs typeface="Arial" panose="020B0604020202020204" pitchFamily="34" charset="0"/>
              </a:rPr>
              <a:t> </a:t>
            </a:r>
            <a:r>
              <a:rPr lang="en-IN" sz="1200" b="1" dirty="0">
                <a:solidFill>
                  <a:schemeClr val="tx1"/>
                </a:solidFill>
                <a:latin typeface="Arial" panose="020B0604020202020204" pitchFamily="34" charset="0"/>
                <a:cs typeface="Arial" panose="020B0604020202020204" pitchFamily="34" charset="0"/>
              </a:rPr>
              <a:t>Network: </a:t>
            </a:r>
            <a:r>
              <a:rPr lang="en-IN" sz="1200" dirty="0">
                <a:solidFill>
                  <a:schemeClr val="tx1"/>
                </a:solidFill>
                <a:latin typeface="Arial" panose="020B0604020202020204" pitchFamily="34" charset="0"/>
                <a:cs typeface="Arial" panose="020B0604020202020204" pitchFamily="34" charset="0"/>
              </a:rPr>
              <a:t>High- speed internet connection, VPN or secure email gateway for </a:t>
            </a:r>
            <a:endParaRPr lang="en-IN" sz="12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8542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340A1-9F52-AF84-C46F-1C39BB508F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B49EE9-A1E8-7BDF-A91B-0908BDA29977}"/>
              </a:ext>
            </a:extLst>
          </p:cNvPr>
          <p:cNvSpPr>
            <a:spLocks noGrp="1"/>
          </p:cNvSpPr>
          <p:nvPr>
            <p:ph type="ctrTitle"/>
          </p:nvPr>
        </p:nvSpPr>
        <p:spPr>
          <a:xfrm>
            <a:off x="800099" y="350901"/>
            <a:ext cx="8582025" cy="830785"/>
          </a:xfrm>
        </p:spPr>
        <p:txBody>
          <a:bodyPr>
            <a:normAutofit fontScale="90000"/>
          </a:bodyPr>
          <a:lstStyle/>
          <a:p>
            <a:pPr algn="l"/>
            <a:r>
              <a:rPr lang="en-US" dirty="0">
                <a:solidFill>
                  <a:schemeClr val="tx1"/>
                </a:solidFill>
                <a:latin typeface="Arial" panose="020B0604020202020204" pitchFamily="34" charset="0"/>
                <a:cs typeface="Arial" panose="020B0604020202020204" pitchFamily="34" charset="0"/>
              </a:rPr>
              <a:t>Risk:</a:t>
            </a:r>
            <a:endParaRPr lang="en-IN" dirty="0">
              <a:solidFill>
                <a:schemeClr val="tx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06B6D253-615D-984F-BBB4-2AE027335FDE}"/>
              </a:ext>
            </a:extLst>
          </p:cNvPr>
          <p:cNvSpPr>
            <a:spLocks noGrp="1"/>
          </p:cNvSpPr>
          <p:nvPr>
            <p:ph type="subTitle" idx="1"/>
          </p:nvPr>
        </p:nvSpPr>
        <p:spPr>
          <a:xfrm>
            <a:off x="800098" y="1288583"/>
            <a:ext cx="8820151" cy="4843860"/>
          </a:xfrm>
        </p:spPr>
        <p:txBody>
          <a:bodyPr>
            <a:normAutofit fontScale="77500" lnSpcReduction="20000"/>
          </a:bodyPr>
          <a:lstStyle/>
          <a:p>
            <a:pPr lvl="0" algn="l"/>
            <a:r>
              <a:rPr lang="en-IN" b="1" dirty="0">
                <a:solidFill>
                  <a:schemeClr val="tx1"/>
                </a:solidFill>
              </a:rPr>
              <a:t>Technical Risks</a:t>
            </a:r>
            <a:endParaRPr lang="en-IN" dirty="0">
              <a:solidFill>
                <a:schemeClr val="tx1"/>
              </a:solidFill>
            </a:endParaRPr>
          </a:p>
          <a:p>
            <a:pPr lvl="1" algn="l"/>
            <a:r>
              <a:rPr lang="en-IN" dirty="0">
                <a:solidFill>
                  <a:schemeClr val="tx1"/>
                </a:solidFill>
              </a:rPr>
              <a:t>System downtime or performance issues (failure to meet 99% uptime target).</a:t>
            </a:r>
          </a:p>
          <a:p>
            <a:pPr lvl="1" algn="l"/>
            <a:r>
              <a:rPr lang="en-IN" dirty="0">
                <a:solidFill>
                  <a:schemeClr val="tx1"/>
                </a:solidFill>
              </a:rPr>
              <a:t>Bugs in booking logic (e.g., double‑booking seats, failed check‑ins).</a:t>
            </a:r>
          </a:p>
          <a:p>
            <a:pPr lvl="1" algn="l"/>
            <a:r>
              <a:rPr lang="en-IN" dirty="0">
                <a:solidFill>
                  <a:schemeClr val="tx1"/>
                </a:solidFill>
              </a:rPr>
              <a:t>Integration challenges with SSO login and internal systems.</a:t>
            </a:r>
          </a:p>
          <a:p>
            <a:pPr lvl="0" algn="l"/>
            <a:r>
              <a:rPr lang="en-IN" b="1" dirty="0">
                <a:solidFill>
                  <a:schemeClr val="tx1"/>
                </a:solidFill>
              </a:rPr>
              <a:t>Operational Risks</a:t>
            </a:r>
            <a:endParaRPr lang="en-IN" dirty="0">
              <a:solidFill>
                <a:schemeClr val="tx1"/>
              </a:solidFill>
            </a:endParaRPr>
          </a:p>
          <a:p>
            <a:pPr lvl="1" algn="l"/>
            <a:r>
              <a:rPr lang="en-IN" dirty="0">
                <a:solidFill>
                  <a:schemeClr val="tx1"/>
                </a:solidFill>
              </a:rPr>
              <a:t>Inaccurate seat/asset inventory leading to wrong bookings.</a:t>
            </a:r>
          </a:p>
          <a:p>
            <a:pPr lvl="1" algn="l"/>
            <a:r>
              <a:rPr lang="en-IN" dirty="0">
                <a:solidFill>
                  <a:schemeClr val="tx1"/>
                </a:solidFill>
              </a:rPr>
              <a:t>Employees not adopting the app (less than 70% usage in pilot).</a:t>
            </a:r>
          </a:p>
          <a:p>
            <a:pPr lvl="1" algn="l"/>
            <a:r>
              <a:rPr lang="en-IN" dirty="0">
                <a:solidFill>
                  <a:schemeClr val="tx1"/>
                </a:solidFill>
              </a:rPr>
              <a:t>High no‑show rates despite check‑in enforcement.</a:t>
            </a:r>
          </a:p>
          <a:p>
            <a:pPr lvl="0" algn="l"/>
            <a:r>
              <a:rPr lang="en-IN" b="1" dirty="0">
                <a:solidFill>
                  <a:schemeClr val="tx1"/>
                </a:solidFill>
              </a:rPr>
              <a:t>Compliance &amp; Security Risks</a:t>
            </a:r>
            <a:endParaRPr lang="en-IN" dirty="0">
              <a:solidFill>
                <a:schemeClr val="tx1"/>
              </a:solidFill>
            </a:endParaRPr>
          </a:p>
          <a:p>
            <a:pPr lvl="1" algn="l"/>
            <a:r>
              <a:rPr lang="en-IN" dirty="0">
                <a:solidFill>
                  <a:schemeClr val="tx1"/>
                </a:solidFill>
              </a:rPr>
              <a:t>Non‑compliance with local </a:t>
            </a:r>
            <a:r>
              <a:rPr lang="en-IN" dirty="0" err="1">
                <a:solidFill>
                  <a:schemeClr val="tx1"/>
                </a:solidFill>
              </a:rPr>
              <a:t>labor</a:t>
            </a:r>
            <a:r>
              <a:rPr lang="en-IN" dirty="0">
                <a:solidFill>
                  <a:schemeClr val="tx1"/>
                </a:solidFill>
              </a:rPr>
              <a:t>, safety, or data‑protection rules.</a:t>
            </a:r>
          </a:p>
          <a:p>
            <a:pPr lvl="1" algn="l"/>
            <a:r>
              <a:rPr lang="en-IN" dirty="0">
                <a:solidFill>
                  <a:schemeClr val="tx1"/>
                </a:solidFill>
              </a:rPr>
              <a:t>Unauthorized access if role‑based controls fail.</a:t>
            </a:r>
          </a:p>
          <a:p>
            <a:pPr lvl="0" algn="l"/>
            <a:r>
              <a:rPr lang="en-IN" b="1" dirty="0">
                <a:solidFill>
                  <a:schemeClr val="tx1"/>
                </a:solidFill>
              </a:rPr>
              <a:t>Change Management Risks</a:t>
            </a:r>
            <a:endParaRPr lang="en-IN" dirty="0">
              <a:solidFill>
                <a:schemeClr val="tx1"/>
              </a:solidFill>
            </a:endParaRPr>
          </a:p>
          <a:p>
            <a:pPr lvl="1" algn="l"/>
            <a:r>
              <a:rPr lang="en-IN" dirty="0">
                <a:solidFill>
                  <a:schemeClr val="tx1"/>
                </a:solidFill>
              </a:rPr>
              <a:t>Lack of training/support leading to poor adoption.</a:t>
            </a:r>
          </a:p>
          <a:p>
            <a:pPr lvl="1" algn="l"/>
            <a:r>
              <a:rPr lang="en-IN" dirty="0">
                <a:solidFill>
                  <a:schemeClr val="tx1"/>
                </a:solidFill>
              </a:rPr>
              <a:t>Leadership townhalls/events exceeding reduced seating capacity.</a:t>
            </a:r>
          </a:p>
          <a:p>
            <a:pPr lvl="0" algn="l"/>
            <a:r>
              <a:rPr lang="en-IN" b="1" dirty="0">
                <a:solidFill>
                  <a:schemeClr val="tx1"/>
                </a:solidFill>
              </a:rPr>
              <a:t>Financial Risks</a:t>
            </a:r>
            <a:endParaRPr lang="en-IN" dirty="0">
              <a:solidFill>
                <a:schemeClr val="tx1"/>
              </a:solidFill>
            </a:endParaRPr>
          </a:p>
          <a:p>
            <a:pPr lvl="1" algn="l"/>
            <a:r>
              <a:rPr lang="en-IN" dirty="0">
                <a:solidFill>
                  <a:schemeClr val="tx1"/>
                </a:solidFill>
              </a:rPr>
              <a:t>Budget overruns beyond the estimated ₹60 lakh.</a:t>
            </a:r>
          </a:p>
          <a:p>
            <a:pPr lvl="1" algn="l"/>
            <a:r>
              <a:rPr lang="en-IN" dirty="0">
                <a:solidFill>
                  <a:schemeClr val="tx1"/>
                </a:solidFill>
              </a:rPr>
              <a:t>Delays in project delivery (timeline 4–5 months slipping).</a:t>
            </a:r>
          </a:p>
          <a:p>
            <a:pPr algn="l"/>
            <a:endParaRPr lang="en-IN"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08598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80A8F-95A6-1890-470E-3DE2761A93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AD81EF-831E-C88D-6206-B47602CCD8AF}"/>
              </a:ext>
            </a:extLst>
          </p:cNvPr>
          <p:cNvSpPr>
            <a:spLocks noGrp="1"/>
          </p:cNvSpPr>
          <p:nvPr>
            <p:ph type="ctrTitle"/>
          </p:nvPr>
        </p:nvSpPr>
        <p:spPr>
          <a:xfrm>
            <a:off x="800099" y="350901"/>
            <a:ext cx="8582025" cy="830785"/>
          </a:xfrm>
        </p:spPr>
        <p:txBody>
          <a:bodyPr>
            <a:normAutofit fontScale="90000"/>
          </a:bodyPr>
          <a:lstStyle/>
          <a:p>
            <a:pPr algn="l"/>
            <a:r>
              <a:rPr lang="en-US" dirty="0">
                <a:solidFill>
                  <a:schemeClr val="tx1"/>
                </a:solidFill>
                <a:latin typeface="Arial" panose="020B0604020202020204" pitchFamily="34" charset="0"/>
                <a:cs typeface="Arial" panose="020B0604020202020204" pitchFamily="34" charset="0"/>
              </a:rPr>
              <a:t>Dependencies:</a:t>
            </a:r>
            <a:endParaRPr lang="en-IN" dirty="0">
              <a:solidFill>
                <a:schemeClr val="tx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63F1CF81-33EF-7A2D-69D6-5286A06AA0F5}"/>
              </a:ext>
            </a:extLst>
          </p:cNvPr>
          <p:cNvSpPr>
            <a:spLocks noGrp="1"/>
          </p:cNvSpPr>
          <p:nvPr>
            <p:ph type="subTitle" idx="1"/>
          </p:nvPr>
        </p:nvSpPr>
        <p:spPr>
          <a:xfrm>
            <a:off x="800098" y="1181686"/>
            <a:ext cx="8820151" cy="4732096"/>
          </a:xfrm>
        </p:spPr>
        <p:txBody>
          <a:bodyPr>
            <a:normAutofit fontScale="92500" lnSpcReduction="10000"/>
          </a:bodyPr>
          <a:lstStyle/>
          <a:p>
            <a:pPr algn="l"/>
            <a:r>
              <a:rPr lang="en-IN" sz="1200" dirty="0">
                <a:solidFill>
                  <a:schemeClr val="tx1"/>
                </a:solidFill>
              </a:rPr>
              <a:t>Dependencies are the </a:t>
            </a:r>
            <a:r>
              <a:rPr lang="en-IN" sz="1200" b="1" dirty="0">
                <a:solidFill>
                  <a:schemeClr val="tx1"/>
                </a:solidFill>
              </a:rPr>
              <a:t>pre‑conditions</a:t>
            </a:r>
            <a:r>
              <a:rPr lang="en-IN" sz="1200" dirty="0">
                <a:solidFill>
                  <a:schemeClr val="tx1"/>
                </a:solidFill>
              </a:rPr>
              <a:t> your project needs — if any of them fail or are delayed, the project timeline and success criteria will be impacted.</a:t>
            </a:r>
          </a:p>
          <a:p>
            <a:pPr algn="l">
              <a:spcBef>
                <a:spcPts val="600"/>
              </a:spcBef>
            </a:pPr>
            <a:r>
              <a:rPr lang="en-IN" sz="1400" b="1" dirty="0">
                <a:solidFill>
                  <a:schemeClr val="tx1"/>
                </a:solidFill>
                <a:latin typeface="Arial" panose="020B0604020202020204" pitchFamily="34" charset="0"/>
                <a:cs typeface="Arial" panose="020B0604020202020204" pitchFamily="34" charset="0"/>
              </a:rPr>
              <a:t>Technology Dependencies</a:t>
            </a:r>
            <a:endParaRPr lang="en-IN" sz="1400" dirty="0">
              <a:solidFill>
                <a:schemeClr val="tx1"/>
              </a:solidFill>
              <a:latin typeface="Arial" panose="020B0604020202020204" pitchFamily="34" charset="0"/>
              <a:cs typeface="Arial" panose="020B0604020202020204" pitchFamily="34" charset="0"/>
            </a:endParaRPr>
          </a:p>
          <a:p>
            <a:pPr lvl="0" algn="l">
              <a:spcBef>
                <a:spcPts val="600"/>
              </a:spcBef>
            </a:pPr>
            <a:r>
              <a:rPr lang="en-IN" sz="1400" dirty="0">
                <a:solidFill>
                  <a:schemeClr val="tx1"/>
                </a:solidFill>
                <a:latin typeface="Arial" panose="020B0604020202020204" pitchFamily="34" charset="0"/>
                <a:cs typeface="Arial" panose="020B0604020202020204" pitchFamily="34" charset="0"/>
              </a:rPr>
              <a:t>	Stable SSO login integration with FIS systems.</a:t>
            </a:r>
          </a:p>
          <a:p>
            <a:pPr lvl="0" algn="l">
              <a:spcBef>
                <a:spcPts val="600"/>
              </a:spcBef>
            </a:pPr>
            <a:r>
              <a:rPr lang="en-IN" sz="1400" dirty="0">
                <a:solidFill>
                  <a:schemeClr val="tx1"/>
                </a:solidFill>
                <a:latin typeface="Arial" panose="020B0604020202020204" pitchFamily="34" charset="0"/>
                <a:cs typeface="Arial" panose="020B0604020202020204" pitchFamily="34" charset="0"/>
              </a:rPr>
              <a:t>	Availability of servers, VPN, and secure network setup.</a:t>
            </a:r>
          </a:p>
          <a:p>
            <a:pPr algn="l">
              <a:spcBef>
                <a:spcPts val="600"/>
              </a:spcBef>
            </a:pPr>
            <a:r>
              <a:rPr lang="en-IN" sz="1400" b="1" dirty="0">
                <a:solidFill>
                  <a:schemeClr val="tx1"/>
                </a:solidFill>
                <a:latin typeface="Arial" panose="020B0604020202020204" pitchFamily="34" charset="0"/>
                <a:cs typeface="Arial" panose="020B0604020202020204" pitchFamily="34" charset="0"/>
              </a:rPr>
              <a:t>Data Dependencies</a:t>
            </a:r>
            <a:endParaRPr lang="en-IN" sz="1400" dirty="0">
              <a:solidFill>
                <a:schemeClr val="tx1"/>
              </a:solidFill>
              <a:latin typeface="Arial" panose="020B0604020202020204" pitchFamily="34" charset="0"/>
              <a:cs typeface="Arial" panose="020B0604020202020204" pitchFamily="34" charset="0"/>
            </a:endParaRPr>
          </a:p>
          <a:p>
            <a:pPr lvl="0" algn="l">
              <a:spcBef>
                <a:spcPts val="600"/>
              </a:spcBef>
            </a:pPr>
            <a:r>
              <a:rPr lang="en-IN" sz="1400" dirty="0">
                <a:solidFill>
                  <a:schemeClr val="tx1"/>
                </a:solidFill>
                <a:latin typeface="Arial" panose="020B0604020202020204" pitchFamily="34" charset="0"/>
                <a:cs typeface="Arial" panose="020B0604020202020204" pitchFamily="34" charset="0"/>
              </a:rPr>
              <a:t>	Accurate seat and asset inventory data before booking logic works.</a:t>
            </a:r>
          </a:p>
          <a:p>
            <a:pPr lvl="0" algn="l">
              <a:spcBef>
                <a:spcPts val="600"/>
              </a:spcBef>
            </a:pPr>
            <a:r>
              <a:rPr lang="en-IN" sz="1400" dirty="0">
                <a:solidFill>
                  <a:schemeClr val="tx1"/>
                </a:solidFill>
                <a:latin typeface="Arial" panose="020B0604020202020204" pitchFamily="34" charset="0"/>
                <a:cs typeface="Arial" panose="020B0604020202020204" pitchFamily="34" charset="0"/>
              </a:rPr>
              <a:t>	Updated floor maps and seating layouts.</a:t>
            </a:r>
          </a:p>
          <a:p>
            <a:pPr lvl="0" algn="l">
              <a:spcBef>
                <a:spcPts val="600"/>
              </a:spcBef>
            </a:pPr>
            <a:r>
              <a:rPr lang="en-IN" sz="1400" dirty="0">
                <a:solidFill>
                  <a:schemeClr val="tx1"/>
                </a:solidFill>
                <a:latin typeface="Arial" panose="020B0604020202020204" pitchFamily="34" charset="0"/>
                <a:cs typeface="Arial" panose="020B0604020202020204" pitchFamily="34" charset="0"/>
              </a:rPr>
              <a:t>	Real‑time occupancy data feeds for dashboards.</a:t>
            </a:r>
          </a:p>
          <a:p>
            <a:pPr algn="l">
              <a:spcBef>
                <a:spcPts val="600"/>
              </a:spcBef>
            </a:pPr>
            <a:r>
              <a:rPr lang="en-IN" sz="1400" b="1" dirty="0">
                <a:solidFill>
                  <a:schemeClr val="tx1"/>
                </a:solidFill>
                <a:latin typeface="Arial" panose="020B0604020202020204" pitchFamily="34" charset="0"/>
                <a:cs typeface="Arial" panose="020B0604020202020204" pitchFamily="34" charset="0"/>
              </a:rPr>
              <a:t>Process Dependencies</a:t>
            </a:r>
            <a:endParaRPr lang="en-IN" sz="1400" dirty="0">
              <a:solidFill>
                <a:schemeClr val="tx1"/>
              </a:solidFill>
              <a:latin typeface="Arial" panose="020B0604020202020204" pitchFamily="34" charset="0"/>
              <a:cs typeface="Arial" panose="020B0604020202020204" pitchFamily="34" charset="0"/>
            </a:endParaRPr>
          </a:p>
          <a:p>
            <a:pPr lvl="0" algn="l">
              <a:spcBef>
                <a:spcPts val="600"/>
              </a:spcBef>
            </a:pPr>
            <a:r>
              <a:rPr lang="en-IN" sz="1400" dirty="0">
                <a:solidFill>
                  <a:schemeClr val="tx1"/>
                </a:solidFill>
                <a:latin typeface="Arial" panose="020B0604020202020204" pitchFamily="34" charset="0"/>
                <a:cs typeface="Arial" panose="020B0604020202020204" pitchFamily="34" charset="0"/>
              </a:rPr>
              <a:t>	Lease exit timelines aligned with workspace consolidation.</a:t>
            </a:r>
          </a:p>
          <a:p>
            <a:pPr lvl="0" algn="l">
              <a:spcBef>
                <a:spcPts val="600"/>
              </a:spcBef>
            </a:pPr>
            <a:r>
              <a:rPr lang="en-IN" sz="1400" dirty="0">
                <a:solidFill>
                  <a:schemeClr val="tx1"/>
                </a:solidFill>
                <a:latin typeface="Arial" panose="020B0604020202020204" pitchFamily="34" charset="0"/>
                <a:cs typeface="Arial" panose="020B0604020202020204" pitchFamily="34" charset="0"/>
              </a:rPr>
              <a:t>	UAT completion before production deployment.</a:t>
            </a:r>
          </a:p>
          <a:p>
            <a:pPr algn="l">
              <a:spcBef>
                <a:spcPts val="600"/>
              </a:spcBef>
            </a:pPr>
            <a:r>
              <a:rPr lang="en-IN" sz="1400" b="1" dirty="0">
                <a:solidFill>
                  <a:schemeClr val="tx1"/>
                </a:solidFill>
                <a:latin typeface="Arial" panose="020B0604020202020204" pitchFamily="34" charset="0"/>
                <a:cs typeface="Arial" panose="020B0604020202020204" pitchFamily="34" charset="0"/>
              </a:rPr>
              <a:t>Resource Dependencies</a:t>
            </a:r>
            <a:endParaRPr lang="en-IN" sz="1400" dirty="0">
              <a:solidFill>
                <a:schemeClr val="tx1"/>
              </a:solidFill>
              <a:latin typeface="Arial" panose="020B0604020202020204" pitchFamily="34" charset="0"/>
              <a:cs typeface="Arial" panose="020B0604020202020204" pitchFamily="34" charset="0"/>
            </a:endParaRPr>
          </a:p>
          <a:p>
            <a:pPr lvl="0" algn="l">
              <a:spcBef>
                <a:spcPts val="600"/>
              </a:spcBef>
            </a:pPr>
            <a:r>
              <a:rPr lang="en-IN" sz="1400" dirty="0">
                <a:solidFill>
                  <a:schemeClr val="tx1"/>
                </a:solidFill>
                <a:latin typeface="Arial" panose="020B0604020202020204" pitchFamily="34" charset="0"/>
                <a:cs typeface="Arial" panose="020B0604020202020204" pitchFamily="34" charset="0"/>
              </a:rPr>
              <a:t>	Availability of developers, testers, and DB admin as per project schedule.</a:t>
            </a:r>
          </a:p>
          <a:p>
            <a:pPr lvl="0" algn="l">
              <a:spcBef>
                <a:spcPts val="600"/>
              </a:spcBef>
            </a:pPr>
            <a:r>
              <a:rPr lang="en-IN" sz="1400" dirty="0">
                <a:solidFill>
                  <a:schemeClr val="tx1"/>
                </a:solidFill>
                <a:latin typeface="Arial" panose="020B0604020202020204" pitchFamily="34" charset="0"/>
                <a:cs typeface="Arial" panose="020B0604020202020204" pitchFamily="34" charset="0"/>
              </a:rPr>
              <a:t>	Timely input from Business Analyst for requirement gathering.</a:t>
            </a:r>
          </a:p>
          <a:p>
            <a:pPr lvl="0" algn="l">
              <a:spcBef>
                <a:spcPts val="600"/>
              </a:spcBef>
            </a:pPr>
            <a:r>
              <a:rPr lang="en-IN" sz="1400" dirty="0">
                <a:solidFill>
                  <a:schemeClr val="tx1"/>
                </a:solidFill>
                <a:latin typeface="Arial" panose="020B0604020202020204" pitchFamily="34" charset="0"/>
                <a:cs typeface="Arial" panose="020B0604020202020204" pitchFamily="34" charset="0"/>
              </a:rPr>
              <a:t>	Budget release (₹60 lakh) and procurement of hardware/software tools.</a:t>
            </a:r>
          </a:p>
          <a:p>
            <a:pPr algn="l">
              <a:spcBef>
                <a:spcPts val="600"/>
              </a:spcBef>
            </a:pPr>
            <a:r>
              <a:rPr lang="en-IN" sz="1400" b="1" dirty="0">
                <a:solidFill>
                  <a:schemeClr val="tx1"/>
                </a:solidFill>
                <a:latin typeface="Arial" panose="020B0604020202020204" pitchFamily="34" charset="0"/>
                <a:cs typeface="Arial" panose="020B0604020202020204" pitchFamily="34" charset="0"/>
              </a:rPr>
              <a:t>Compliance Dependencies</a:t>
            </a:r>
            <a:endParaRPr lang="en-IN" sz="1400" dirty="0">
              <a:solidFill>
                <a:schemeClr val="tx1"/>
              </a:solidFill>
              <a:latin typeface="Arial" panose="020B0604020202020204" pitchFamily="34" charset="0"/>
              <a:cs typeface="Arial" panose="020B0604020202020204" pitchFamily="34" charset="0"/>
            </a:endParaRPr>
          </a:p>
          <a:p>
            <a:pPr lvl="0" algn="l">
              <a:spcBef>
                <a:spcPts val="600"/>
              </a:spcBef>
            </a:pPr>
            <a:r>
              <a:rPr lang="en-IN" sz="1400" dirty="0">
                <a:solidFill>
                  <a:schemeClr val="tx1"/>
                </a:solidFill>
                <a:latin typeface="Arial" panose="020B0604020202020204" pitchFamily="34" charset="0"/>
                <a:cs typeface="Arial" panose="020B0604020202020204" pitchFamily="34" charset="0"/>
              </a:rPr>
              <a:t>	Adherence to local </a:t>
            </a:r>
            <a:r>
              <a:rPr lang="en-IN" sz="1400" dirty="0" err="1">
                <a:solidFill>
                  <a:schemeClr val="tx1"/>
                </a:solidFill>
                <a:latin typeface="Arial" panose="020B0604020202020204" pitchFamily="34" charset="0"/>
                <a:cs typeface="Arial" panose="020B0604020202020204" pitchFamily="34" charset="0"/>
              </a:rPr>
              <a:t>labor</a:t>
            </a:r>
            <a:r>
              <a:rPr lang="en-IN" sz="1400" dirty="0">
                <a:solidFill>
                  <a:schemeClr val="tx1"/>
                </a:solidFill>
                <a:latin typeface="Arial" panose="020B0604020202020204" pitchFamily="34" charset="0"/>
                <a:cs typeface="Arial" panose="020B0604020202020204" pitchFamily="34" charset="0"/>
              </a:rPr>
              <a:t>, safety, and data‑protection rules.</a:t>
            </a:r>
          </a:p>
          <a:p>
            <a:pPr lvl="0" algn="l">
              <a:spcBef>
                <a:spcPts val="600"/>
              </a:spcBef>
            </a:pPr>
            <a:r>
              <a:rPr lang="en-IN" sz="1400" dirty="0">
                <a:solidFill>
                  <a:schemeClr val="tx1"/>
                </a:solidFill>
                <a:latin typeface="Arial" panose="020B0604020202020204" pitchFamily="34" charset="0"/>
                <a:cs typeface="Arial" panose="020B0604020202020204" pitchFamily="34" charset="0"/>
              </a:rPr>
              <a:t>	Approval from leadership for townhall/event seating arrangements.</a:t>
            </a:r>
          </a:p>
        </p:txBody>
      </p:sp>
    </p:spTree>
    <p:extLst>
      <p:ext uri="{BB962C8B-B14F-4D97-AF65-F5344CB8AC3E}">
        <p14:creationId xmlns:p14="http://schemas.microsoft.com/office/powerpoint/2010/main" val="958596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3723E-FB39-34D5-062E-8261062957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A2EF9B-BD1E-77A8-E826-426BE60FED37}"/>
              </a:ext>
            </a:extLst>
          </p:cNvPr>
          <p:cNvSpPr>
            <a:spLocks noGrp="1"/>
          </p:cNvSpPr>
          <p:nvPr>
            <p:ph type="ctrTitle"/>
          </p:nvPr>
        </p:nvSpPr>
        <p:spPr>
          <a:xfrm>
            <a:off x="740465" y="2598215"/>
            <a:ext cx="8582025" cy="830785"/>
          </a:xfrm>
        </p:spPr>
        <p:txBody>
          <a:bodyPr>
            <a:normAutofit fontScale="90000"/>
          </a:bodyPr>
          <a:lstStyle/>
          <a:p>
            <a:pPr algn="ctr"/>
            <a:r>
              <a:rPr lang="en-IN" b="1" dirty="0">
                <a:solidFill>
                  <a:schemeClr val="tx1"/>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224720418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7902</TotalTime>
  <Words>1760</Words>
  <Application>Microsoft Office PowerPoint</Application>
  <PresentationFormat>Widescreen</PresentationFormat>
  <Paragraphs>139</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Trebuchet MS</vt:lpstr>
      <vt:lpstr>Wingdings</vt:lpstr>
      <vt:lpstr>Wingdings 3</vt:lpstr>
      <vt:lpstr>Facet</vt:lpstr>
      <vt:lpstr>Project Name: FIS Workspace</vt:lpstr>
      <vt:lpstr>Situation:</vt:lpstr>
      <vt:lpstr>Problem:</vt:lpstr>
      <vt:lpstr>Opportunity:</vt:lpstr>
      <vt:lpstr>Goals:</vt:lpstr>
      <vt:lpstr>Project Objectives:</vt:lpstr>
      <vt:lpstr>Success Criteria:</vt:lpstr>
      <vt:lpstr>Method/Approach:</vt:lpstr>
      <vt:lpstr>Resources:</vt:lpstr>
      <vt:lpstr>Risk:</vt:lpstr>
      <vt:lpstr>Dependencies:</vt:lpstr>
      <vt:lpstr>THANK YOU!</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Akash Chaudhary</dc:creator>
  <cp:lastModifiedBy>Akash Chaudhary</cp:lastModifiedBy>
  <cp:revision>15</cp:revision>
  <dcterms:created xsi:type="dcterms:W3CDTF">2026-07-01T03:06:45Z</dcterms:created>
  <dcterms:modified xsi:type="dcterms:W3CDTF">2026-07-10T00:15:37Z</dcterms:modified>
</cp:coreProperties>
</file>