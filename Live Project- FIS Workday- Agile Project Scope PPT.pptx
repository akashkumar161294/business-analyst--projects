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922"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69043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152912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25041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606394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752702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942938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95642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99951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695655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908466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6083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293560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39059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294318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450195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smtClean="0"/>
              <a:pPr/>
              <a:t>8/3/2026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24262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E36636D-D922-432D-A958-524484B5923D}" type="datetimeFigureOut">
              <a:rPr lang="en-US" smtClean="0"/>
              <a:pPr/>
              <a:t>8/3/2026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744730899"/>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 id="2147483875" r:id="rId15"/>
    <p:sldLayoutId id="21474838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CD5C3-B1F0-3EED-7060-024093EF1CC7}"/>
              </a:ext>
            </a:extLst>
          </p:cNvPr>
          <p:cNvSpPr>
            <a:spLocks noGrp="1"/>
          </p:cNvSpPr>
          <p:nvPr>
            <p:ph type="ctrTitle"/>
          </p:nvPr>
        </p:nvSpPr>
        <p:spPr>
          <a:xfrm>
            <a:off x="1726142" y="2395009"/>
            <a:ext cx="7766936" cy="1646302"/>
          </a:xfrm>
        </p:spPr>
        <p:txBody>
          <a:bodyPr/>
          <a:lstStyle/>
          <a:p>
            <a:pPr algn="ctr"/>
            <a:r>
              <a:rPr lang="en-US" dirty="0">
                <a:solidFill>
                  <a:schemeClr val="tx1"/>
                </a:solidFill>
                <a:latin typeface="Arial" panose="020B0604020202020204" pitchFamily="34" charset="0"/>
                <a:cs typeface="Arial" panose="020B0604020202020204" pitchFamily="34" charset="0"/>
              </a:rPr>
              <a:t>Project Name:</a:t>
            </a:r>
            <a:br>
              <a:rPr lang="en-US" dirty="0">
                <a:solidFill>
                  <a:schemeClr val="tx1"/>
                </a:solidFill>
                <a:latin typeface="Arial" panose="020B0604020202020204" pitchFamily="34" charset="0"/>
                <a:cs typeface="Arial" panose="020B0604020202020204" pitchFamily="34" charset="0"/>
              </a:rPr>
            </a:br>
            <a:r>
              <a:rPr lang="en-US" b="1" spc="600" dirty="0">
                <a:solidFill>
                  <a:schemeClr val="tx1"/>
                </a:solidFill>
                <a:latin typeface="Arial" panose="020B0604020202020204" pitchFamily="34" charset="0"/>
                <a:cs typeface="Arial" panose="020B0604020202020204" pitchFamily="34" charset="0"/>
              </a:rPr>
              <a:t>FIS Workday (Enhancement)</a:t>
            </a:r>
            <a:endParaRPr lang="en-IN" b="1" spc="600" dirty="0">
              <a:solidFill>
                <a:schemeClr val="tx1"/>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04070E3-9B10-D381-004B-58088A831424}"/>
              </a:ext>
            </a:extLst>
          </p:cNvPr>
          <p:cNvSpPr>
            <a:spLocks noGrp="1"/>
          </p:cNvSpPr>
          <p:nvPr>
            <p:ph type="subTitle" idx="1"/>
          </p:nvPr>
        </p:nvSpPr>
        <p:spPr>
          <a:xfrm>
            <a:off x="294368" y="5560489"/>
            <a:ext cx="3563257" cy="430735"/>
          </a:xfrm>
        </p:spPr>
        <p:txBody>
          <a:bodyPr/>
          <a:lstStyle/>
          <a:p>
            <a:r>
              <a:rPr lang="en-US" dirty="0">
                <a:latin typeface="Arial" panose="020B0604020202020204" pitchFamily="34" charset="0"/>
                <a:cs typeface="Arial" panose="020B0604020202020204" pitchFamily="34" charset="0"/>
              </a:rPr>
              <a:t>Prepared By: Akash Kumar</a:t>
            </a:r>
            <a:endParaRPr lang="en-IN" dirty="0">
              <a:latin typeface="Arial" panose="020B0604020202020204" pitchFamily="34" charset="0"/>
              <a:cs typeface="Arial" panose="020B0604020202020204" pitchFamily="34" charset="0"/>
            </a:endParaRPr>
          </a:p>
        </p:txBody>
      </p:sp>
      <p:sp>
        <p:nvSpPr>
          <p:cNvPr id="4" name="Subtitle 2">
            <a:extLst>
              <a:ext uri="{FF2B5EF4-FFF2-40B4-BE49-F238E27FC236}">
                <a16:creationId xmlns:a16="http://schemas.microsoft.com/office/drawing/2014/main" id="{AB2FC04C-53BA-34A4-ABB3-CBA9B9D6D880}"/>
              </a:ext>
            </a:extLst>
          </p:cNvPr>
          <p:cNvSpPr txBox="1">
            <a:spLocks/>
          </p:cNvSpPr>
          <p:nvPr/>
        </p:nvSpPr>
        <p:spPr>
          <a:xfrm>
            <a:off x="9829800" y="5560490"/>
            <a:ext cx="2209800" cy="430735"/>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r>
              <a:rPr lang="en-US" dirty="0">
                <a:latin typeface="Arial" panose="020B0604020202020204" pitchFamily="34" charset="0"/>
                <a:cs typeface="Arial" panose="020B0604020202020204" pitchFamily="34" charset="0"/>
              </a:rPr>
              <a:t>Date: 31</a:t>
            </a:r>
            <a:r>
              <a:rPr lang="en-US" baseline="30000" dirty="0">
                <a:latin typeface="Arial" panose="020B0604020202020204" pitchFamily="34" charset="0"/>
                <a:cs typeface="Arial" panose="020B0604020202020204" pitchFamily="34" charset="0"/>
              </a:rPr>
              <a:t>st</a:t>
            </a:r>
            <a:r>
              <a:rPr lang="en-US" dirty="0">
                <a:latin typeface="Arial" panose="020B0604020202020204" pitchFamily="34" charset="0"/>
                <a:cs typeface="Arial" panose="020B0604020202020204" pitchFamily="34" charset="0"/>
              </a:rPr>
              <a:t> July’26</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18596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8071E-6691-71AA-ECAE-643959F8A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901B6-A677-5D76-3BB1-CED6EB475B66}"/>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Situation:</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33769E59-3C8B-B446-2951-B7BD0929FB3D}"/>
              </a:ext>
            </a:extLst>
          </p:cNvPr>
          <p:cNvSpPr>
            <a:spLocks noGrp="1"/>
          </p:cNvSpPr>
          <p:nvPr>
            <p:ph type="subTitle" idx="1"/>
          </p:nvPr>
        </p:nvSpPr>
        <p:spPr>
          <a:xfrm>
            <a:off x="800098" y="1288583"/>
            <a:ext cx="8820151" cy="4150192"/>
          </a:xfrm>
        </p:spPr>
        <p:txBody>
          <a:bodyPr>
            <a:normAutofit/>
          </a:bodyPr>
          <a:lstStyle/>
          <a:p>
            <a:pPr algn="l">
              <a:lnSpc>
                <a:spcPct val="200000"/>
              </a:lnSpc>
            </a:pPr>
            <a:r>
              <a:rPr lang="en-IN" sz="1200" b="1" dirty="0">
                <a:solidFill>
                  <a:schemeClr val="tx1"/>
                </a:solidFill>
                <a:latin typeface="Arial" panose="020B0604020202020204" pitchFamily="34" charset="0"/>
                <a:cs typeface="Arial" panose="020B0604020202020204" pitchFamily="34" charset="0"/>
              </a:rPr>
              <a:t>Employees at FIS use the Workday tool for their HR needs. They use it to:</a:t>
            </a:r>
          </a:p>
          <a:p>
            <a:pPr marL="171450" lvl="0" indent="-171450" algn="l">
              <a:lnSpc>
                <a:spcPct val="200000"/>
              </a:lnSpc>
              <a:buFont typeface="Arial" panose="020B0604020202020204" pitchFamily="34" charset="0"/>
              <a:buChar char="•"/>
            </a:pPr>
            <a:r>
              <a:rPr lang="en-IN" sz="1200" b="1" dirty="0">
                <a:solidFill>
                  <a:schemeClr val="tx1"/>
                </a:solidFill>
                <a:latin typeface="Arial" panose="020B0604020202020204" pitchFamily="34" charset="0"/>
                <a:cs typeface="Arial" panose="020B0604020202020204" pitchFamily="34" charset="0"/>
              </a:rPr>
              <a:t>Check and apply for leave i.e. Casual Leaves, Sick Leaves, Regional Leaves, Paid Leaves.</a:t>
            </a:r>
          </a:p>
          <a:p>
            <a:pPr marL="171450" lvl="0" indent="-171450" algn="l">
              <a:lnSpc>
                <a:spcPct val="200000"/>
              </a:lnSpc>
              <a:buFont typeface="Arial" panose="020B0604020202020204" pitchFamily="34" charset="0"/>
              <a:buChar char="•"/>
            </a:pPr>
            <a:r>
              <a:rPr lang="en-IN" sz="1200" b="1" dirty="0">
                <a:solidFill>
                  <a:schemeClr val="tx1"/>
                </a:solidFill>
                <a:latin typeface="Arial" panose="020B0604020202020204" pitchFamily="34" charset="0"/>
                <a:cs typeface="Arial" panose="020B0604020202020204" pitchFamily="34" charset="0"/>
              </a:rPr>
              <a:t>Look at internal job openings or apply for external jobs.</a:t>
            </a:r>
          </a:p>
          <a:p>
            <a:pPr marL="171450" lvl="0" indent="-171450" algn="l">
              <a:lnSpc>
                <a:spcPct val="200000"/>
              </a:lnSpc>
              <a:buFont typeface="Arial" panose="020B0604020202020204" pitchFamily="34" charset="0"/>
              <a:buChar char="•"/>
            </a:pPr>
            <a:r>
              <a:rPr lang="en-IN" sz="1200" b="1" dirty="0">
                <a:solidFill>
                  <a:schemeClr val="tx1"/>
                </a:solidFill>
                <a:latin typeface="Arial" panose="020B0604020202020204" pitchFamily="34" charset="0"/>
                <a:cs typeface="Arial" panose="020B0604020202020204" pitchFamily="34" charset="0"/>
              </a:rPr>
              <a:t>Request payouts for unused national holidays i.e. Independence Day, Republic Day or Gandhi Jayanti.</a:t>
            </a:r>
          </a:p>
          <a:p>
            <a:pPr algn="l">
              <a:lnSpc>
                <a:spcPct val="200000"/>
              </a:lnSpc>
            </a:pPr>
            <a:r>
              <a:rPr lang="en-IN" sz="1200" b="1" dirty="0">
                <a:solidFill>
                  <a:schemeClr val="tx1"/>
                </a:solidFill>
                <a:latin typeface="Arial" panose="020B0604020202020204" pitchFamily="34" charset="0"/>
                <a:cs typeface="Arial" panose="020B0604020202020204" pitchFamily="34" charset="0"/>
              </a:rPr>
              <a:t>Right now, these processes are not fully automatic. Some steps still need manual work (</a:t>
            </a:r>
            <a:r>
              <a:rPr lang="en-IN" sz="1200" dirty="0">
                <a:solidFill>
                  <a:schemeClr val="tx1"/>
                </a:solidFill>
                <a:latin typeface="Arial" panose="020B0604020202020204" pitchFamily="34" charset="0"/>
                <a:cs typeface="Arial" panose="020B0604020202020204" pitchFamily="34" charset="0"/>
              </a:rPr>
              <a:t>For National Holiday, Operations are preparing Manual Data on Excel and sharing with Payroll team</a:t>
            </a:r>
            <a:r>
              <a:rPr lang="en-IN" sz="1200" b="1" dirty="0">
                <a:solidFill>
                  <a:schemeClr val="tx1"/>
                </a:solidFill>
                <a:latin typeface="Arial" panose="020B0604020202020204" pitchFamily="34" charset="0"/>
                <a:cs typeface="Arial" panose="020B0604020202020204" pitchFamily="34" charset="0"/>
              </a:rPr>
              <a:t>), which can cause delays and extra effort for HR and employees.</a:t>
            </a:r>
          </a:p>
        </p:txBody>
      </p:sp>
    </p:spTree>
    <p:extLst>
      <p:ext uri="{BB962C8B-B14F-4D97-AF65-F5344CB8AC3E}">
        <p14:creationId xmlns:p14="http://schemas.microsoft.com/office/powerpoint/2010/main" val="1503246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FCC4B-7E61-2B54-732D-5F470CCDF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C8124-D917-7331-9F10-88E8F136E1A3}"/>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Problem:</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AB7AD9E2-4D73-D2AE-A0FF-BC81B1C97B53}"/>
              </a:ext>
            </a:extLst>
          </p:cNvPr>
          <p:cNvSpPr>
            <a:spLocks noGrp="1"/>
          </p:cNvSpPr>
          <p:nvPr>
            <p:ph type="subTitle" idx="1"/>
          </p:nvPr>
        </p:nvSpPr>
        <p:spPr>
          <a:xfrm>
            <a:off x="800098" y="1288583"/>
            <a:ext cx="8820151" cy="4784226"/>
          </a:xfrm>
        </p:spPr>
        <p:txBody>
          <a:bodyPr>
            <a:normAutofit/>
          </a:bodyPr>
          <a:lstStyle/>
          <a:p>
            <a:pPr lvl="0" algn="l">
              <a:lnSpc>
                <a:spcPct val="150000"/>
              </a:lnSpc>
            </a:pPr>
            <a:r>
              <a:rPr lang="en-IN" sz="1200" b="1" dirty="0">
                <a:solidFill>
                  <a:schemeClr val="tx1"/>
                </a:solidFill>
                <a:latin typeface="Arial" panose="020B0604020202020204" pitchFamily="34" charset="0"/>
                <a:cs typeface="Arial" panose="020B0604020202020204" pitchFamily="34" charset="0"/>
              </a:rPr>
              <a:t>Delays in leave approvals and payouts:</a:t>
            </a:r>
          </a:p>
          <a:p>
            <a:pPr marL="285750" lvl="0" indent="-285750" algn="l">
              <a:lnSpc>
                <a:spcPct val="150000"/>
              </a:lnSpc>
              <a:buFont typeface="Wingdings" panose="05000000000000000000" pitchFamily="2" charset="2"/>
              <a:buChar char="§"/>
            </a:pPr>
            <a:r>
              <a:rPr lang="en-IN" sz="1200" dirty="0">
                <a:solidFill>
                  <a:schemeClr val="tx1"/>
                </a:solidFill>
                <a:latin typeface="Arial" panose="020B0604020202020204" pitchFamily="34" charset="0"/>
                <a:cs typeface="Arial" panose="020B0604020202020204" pitchFamily="34" charset="0"/>
              </a:rPr>
              <a:t>Employees sometimes wait too long for their leave requests or holiday payout requests to be approved. This makes the process slow and frustrating.</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HR repetitive work:</a:t>
            </a:r>
          </a:p>
          <a:p>
            <a:pPr marL="285750" lvl="0" indent="-2857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HR staff spend a lot of time doing the same tasks again and again, like updating job postings. This takes away time they could use for more important work.</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Limited self-service features:</a:t>
            </a:r>
          </a:p>
          <a:p>
            <a:pPr marL="285750" lvl="0" indent="-285750" algn="l">
              <a:lnSpc>
                <a:spcPct val="150000"/>
              </a:lnSpc>
              <a:buFont typeface="Wingdings" panose="05000000000000000000" pitchFamily="2" charset="2"/>
              <a:buChar char="§"/>
            </a:pPr>
            <a:r>
              <a:rPr lang="en-IN" sz="1200" dirty="0">
                <a:solidFill>
                  <a:schemeClr val="tx1"/>
                </a:solidFill>
                <a:latin typeface="Arial" panose="020B0604020202020204" pitchFamily="34" charset="0"/>
                <a:cs typeface="Arial" panose="020B0604020202020204" pitchFamily="34" charset="0"/>
              </a:rPr>
              <a:t>Employees cannot do everything on their own in Workday. They often need HR’s help, which reduces convenience and makes them less satisfied.</a:t>
            </a:r>
          </a:p>
        </p:txBody>
      </p:sp>
    </p:spTree>
    <p:extLst>
      <p:ext uri="{BB962C8B-B14F-4D97-AF65-F5344CB8AC3E}">
        <p14:creationId xmlns:p14="http://schemas.microsoft.com/office/powerpoint/2010/main" val="1227303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BE257-5623-1478-71CA-1716EA609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EF68A-ADA8-96BE-ED98-E8CA41E52848}"/>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Opportunity:</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8068DA08-75D2-6CC7-58FF-4EEC10D53439}"/>
              </a:ext>
            </a:extLst>
          </p:cNvPr>
          <p:cNvSpPr>
            <a:spLocks noGrp="1"/>
          </p:cNvSpPr>
          <p:nvPr>
            <p:ph type="subTitle" idx="1"/>
          </p:nvPr>
        </p:nvSpPr>
        <p:spPr>
          <a:xfrm>
            <a:off x="800098" y="1288583"/>
            <a:ext cx="8820151" cy="4150192"/>
          </a:xfrm>
        </p:spPr>
        <p:txBody>
          <a:bodyPr>
            <a:normAutofit/>
          </a:bodyPr>
          <a:lstStyle/>
          <a:p>
            <a:pPr lvl="0" algn="l">
              <a:lnSpc>
                <a:spcPct val="200000"/>
              </a:lnSpc>
            </a:pPr>
            <a:r>
              <a:rPr lang="en-IN" sz="1200" b="1" dirty="0">
                <a:solidFill>
                  <a:schemeClr val="tx1"/>
                </a:solidFill>
                <a:latin typeface="Arial" panose="020B0604020202020204" pitchFamily="34" charset="0"/>
                <a:cs typeface="Arial" panose="020B0604020202020204" pitchFamily="34" charset="0"/>
              </a:rPr>
              <a:t>Enhance Workday with automation and improved workflows:</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20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Make Workday smarter by adding automation. This means routine tasks (like approvals or payouts) will happen faster without manual effort.</a:t>
            </a:r>
          </a:p>
          <a:p>
            <a:pPr lvl="0" algn="l">
              <a:lnSpc>
                <a:spcPct val="200000"/>
              </a:lnSpc>
            </a:pPr>
            <a:r>
              <a:rPr lang="en-IN" sz="1200" b="1" dirty="0">
                <a:solidFill>
                  <a:schemeClr val="tx1"/>
                </a:solidFill>
                <a:latin typeface="Arial" panose="020B0604020202020204" pitchFamily="34" charset="0"/>
                <a:cs typeface="Arial" panose="020B0604020202020204" pitchFamily="34" charset="0"/>
              </a:rPr>
              <a:t>Provide employees with a seamless self-service portal:</a:t>
            </a:r>
          </a:p>
          <a:p>
            <a:pPr marL="171450" lvl="0" indent="-171450" algn="l">
              <a:lnSpc>
                <a:spcPct val="20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Give employees an easy-to-use system where they can do things themselves—like applying for leave, checking balances, or requesting payouts—without needing HR’s help.</a:t>
            </a:r>
          </a:p>
          <a:p>
            <a:pPr lvl="0" algn="l">
              <a:lnSpc>
                <a:spcPct val="200000"/>
              </a:lnSpc>
            </a:pPr>
            <a:r>
              <a:rPr lang="en-IN" sz="1200" b="1" dirty="0">
                <a:solidFill>
                  <a:schemeClr val="tx1"/>
                </a:solidFill>
                <a:latin typeface="Arial" panose="020B0604020202020204" pitchFamily="34" charset="0"/>
                <a:cs typeface="Arial" panose="020B0604020202020204" pitchFamily="34" charset="0"/>
              </a:rPr>
              <a:t>Integrate payroll and recruitment more tightly with Workday:</a:t>
            </a:r>
          </a:p>
          <a:p>
            <a:pPr marL="171450" lvl="0" indent="-171450" algn="l">
              <a:lnSpc>
                <a:spcPct val="20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Connect Workday more closely with payroll and hiring systems. This ensures that leave, payouts, and job applications are updated automatically in salary records and recruitment processes.</a:t>
            </a:r>
          </a:p>
        </p:txBody>
      </p:sp>
    </p:spTree>
    <p:extLst>
      <p:ext uri="{BB962C8B-B14F-4D97-AF65-F5344CB8AC3E}">
        <p14:creationId xmlns:p14="http://schemas.microsoft.com/office/powerpoint/2010/main" val="3179465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EDAF6-BFFD-69F7-D254-15E5DE75E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DBA39-33B9-6E3C-1264-5039DFFB48DA}"/>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Goals:</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3CA95DB4-744C-DE93-71D0-FFBF2C119995}"/>
              </a:ext>
            </a:extLst>
          </p:cNvPr>
          <p:cNvSpPr>
            <a:spLocks noGrp="1"/>
          </p:cNvSpPr>
          <p:nvPr>
            <p:ph type="subTitle" idx="1"/>
          </p:nvPr>
        </p:nvSpPr>
        <p:spPr>
          <a:xfrm>
            <a:off x="800098" y="1288583"/>
            <a:ext cx="8820151" cy="4150192"/>
          </a:xfrm>
        </p:spPr>
        <p:txBody>
          <a:bodyPr>
            <a:normAutofit/>
          </a:bodyPr>
          <a:lstStyle/>
          <a:p>
            <a:pPr lvl="0" algn="l">
              <a:lnSpc>
                <a:spcPct val="150000"/>
              </a:lnSpc>
            </a:pPr>
            <a:r>
              <a:rPr lang="en-IN" sz="1200" b="1" dirty="0">
                <a:solidFill>
                  <a:schemeClr val="tx1"/>
                </a:solidFill>
                <a:latin typeface="Arial" panose="020B0604020202020204" pitchFamily="34" charset="0"/>
                <a:cs typeface="Arial" panose="020B0604020202020204" pitchFamily="34" charset="0"/>
              </a:rPr>
              <a:t>Streamline leave and holiday payout processes:</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Make applying for leave and holiday payouts faster and easier, with fewer steps.</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Improve transparency in job postings:</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Show job openings clearly so employees can easily see and apply for them.</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Reduce HR workload through automation:</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Let the system handle routine tasks automatically, so HR staff don’t have to repeat the same work repeatedly.</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Increase employee satisfaction and efficiency:</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Make employees happier and more productive by giving them easy access to the services they need.</a:t>
            </a:r>
            <a:endParaRPr lang="en-IN" sz="12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6517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93ACC-9765-546E-87F6-6E19CC533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66224-C0D9-366A-701B-A74F59E55114}"/>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Project Objectives:</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05BF1B35-B3A7-D076-DAD7-A80521152475}"/>
              </a:ext>
            </a:extLst>
          </p:cNvPr>
          <p:cNvSpPr>
            <a:spLocks noGrp="1"/>
          </p:cNvSpPr>
          <p:nvPr>
            <p:ph type="subTitle" idx="1"/>
          </p:nvPr>
        </p:nvSpPr>
        <p:spPr>
          <a:xfrm>
            <a:off x="800098" y="1288582"/>
            <a:ext cx="8840859" cy="4565565"/>
          </a:xfrm>
        </p:spPr>
        <p:txBody>
          <a:bodyPr>
            <a:normAutofit lnSpcReduction="10000"/>
          </a:bodyPr>
          <a:lstStyle/>
          <a:p>
            <a:pPr lvl="0" algn="l">
              <a:lnSpc>
                <a:spcPct val="150000"/>
              </a:lnSpc>
            </a:pPr>
            <a:r>
              <a:rPr lang="en-IN" sz="1200" b="1" dirty="0">
                <a:solidFill>
                  <a:schemeClr val="tx1"/>
                </a:solidFill>
                <a:latin typeface="Arial" panose="020B0604020202020204" pitchFamily="34" charset="0"/>
                <a:cs typeface="Arial" panose="020B0604020202020204" pitchFamily="34" charset="0"/>
              </a:rPr>
              <a:t>Build enhancements for leave tracking and holiday payout workflows:</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Make the system better so employees can easily check their leave balance and apply for holiday payouts without delays.</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Enable faster internal/external job posting management:</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Help HR post jobs quickly inside the company and outside, so employees and new candidates can apply without confusion.</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Ensure integration with payroll and compliance systems:</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Connect Workday smoothly with payroll and company rules, so salaries and approvals are updated automatically and correctly.</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Deliver user-friendly dashboards for employees and managers:</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Create clear and easy-to-use screens where employees and managers can see all important information at a glance.</a:t>
            </a:r>
          </a:p>
          <a:p>
            <a:pPr marL="171450" lvl="0" indent="-171450" algn="l">
              <a:lnSpc>
                <a:spcPct val="150000"/>
              </a:lnSpc>
              <a:buFont typeface="Arial" panose="020B0604020202020204" pitchFamily="34" charset="0"/>
              <a:buChar char="•"/>
            </a:pPr>
            <a:endParaRPr lang="en-IN" sz="1200" dirty="0">
              <a:solidFill>
                <a:schemeClr val="tx1"/>
              </a:solidFill>
              <a:latin typeface="Arial" panose="020B0604020202020204" pitchFamily="34" charset="0"/>
              <a:cs typeface="Arial" panose="020B0604020202020204" pitchFamily="34" charset="0"/>
            </a:endParaRPr>
          </a:p>
          <a:p>
            <a:pPr marL="171450" lvl="0" indent="-171450" algn="l">
              <a:lnSpc>
                <a:spcPct val="150000"/>
              </a:lnSpc>
              <a:buFont typeface="Arial" panose="020B0604020202020204" pitchFamily="34" charset="0"/>
              <a:buChar char="•"/>
            </a:pPr>
            <a:endParaRPr lang="en-IN" sz="1200" dirty="0">
              <a:solidFill>
                <a:schemeClr val="tx1"/>
              </a:solidFill>
              <a:latin typeface="Arial" panose="020B0604020202020204" pitchFamily="34" charset="0"/>
              <a:cs typeface="Arial" panose="020B0604020202020204" pitchFamily="34" charset="0"/>
            </a:endParaRP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	Situation → Problem → Opportunity → Goals → Objectives</a:t>
            </a:r>
            <a:endParaRPr lang="en-IN"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4216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13AC4-BC55-296E-43EE-0C97FC3CF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AC7DD-B4AA-A39B-8DCE-090E60FB5B96}"/>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Success Criteria:</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5CACA531-5BCB-F266-81AE-D421F83EEEA0}"/>
              </a:ext>
            </a:extLst>
          </p:cNvPr>
          <p:cNvSpPr>
            <a:spLocks noGrp="1"/>
          </p:cNvSpPr>
          <p:nvPr>
            <p:ph type="subTitle" idx="1"/>
          </p:nvPr>
        </p:nvSpPr>
        <p:spPr>
          <a:xfrm>
            <a:off x="800098" y="1288582"/>
            <a:ext cx="8820151" cy="4814043"/>
          </a:xfrm>
        </p:spPr>
        <p:txBody>
          <a:bodyPr>
            <a:normAutofit/>
          </a:bodyPr>
          <a:lstStyle/>
          <a:p>
            <a:pPr lvl="0" algn="l">
              <a:lnSpc>
                <a:spcPct val="150000"/>
              </a:lnSpc>
            </a:pPr>
            <a:r>
              <a:rPr lang="en-IN" sz="1200" b="1" dirty="0">
                <a:solidFill>
                  <a:schemeClr val="tx1"/>
                </a:solidFill>
                <a:latin typeface="Arial" panose="020B0604020202020204" pitchFamily="34" charset="0"/>
                <a:cs typeface="Arial" panose="020B0604020202020204" pitchFamily="34" charset="0"/>
              </a:rPr>
              <a:t>Employees can apply for leave and payouts without manual help:</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The system should allow employees to request leave or holiday payouts easily, and the process should happen automatically.</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Job postings updated and tracked in real time:</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Internal and external job openings should be shown clearly, and employees or candidates should be able to see updates right away.</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HR workload reduced by a clear percentage (example: 23%):</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Because of automation, HR staff should spend much less time on repetitive tasks.</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Positive employee feedback in surveys:</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Employees should feel happier and more satisfied with the system, which can be measured through feedback forms or surveys.</a:t>
            </a:r>
          </a:p>
          <a:p>
            <a:pPr algn="l">
              <a:lnSpc>
                <a:spcPct val="150000"/>
              </a:lnSpc>
            </a:pPr>
            <a:endParaRPr lang="en-IN"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4713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EF19E-3CC5-D7FC-71E5-A44A3375E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9881D-CA4D-AA4A-5FA2-A69564EDE83C}"/>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Method/Approach:</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8FB88310-981F-BA6B-358B-EA3F03016567}"/>
              </a:ext>
            </a:extLst>
          </p:cNvPr>
          <p:cNvSpPr>
            <a:spLocks noGrp="1"/>
          </p:cNvSpPr>
          <p:nvPr>
            <p:ph type="subTitle" idx="1"/>
          </p:nvPr>
        </p:nvSpPr>
        <p:spPr>
          <a:xfrm>
            <a:off x="800098" y="1288583"/>
            <a:ext cx="8820151" cy="4466174"/>
          </a:xfrm>
        </p:spPr>
        <p:txBody>
          <a:bodyPr>
            <a:noAutofit/>
          </a:bodyPr>
          <a:lstStyle/>
          <a:p>
            <a:pPr algn="l">
              <a:lnSpc>
                <a:spcPct val="150000"/>
              </a:lnSpc>
            </a:pPr>
            <a:r>
              <a:rPr lang="en-IN" sz="1200" b="1" dirty="0">
                <a:solidFill>
                  <a:schemeClr val="tx1"/>
                </a:solidFill>
                <a:latin typeface="Arial" panose="020B0604020202020204" pitchFamily="34" charset="0"/>
                <a:cs typeface="Arial" panose="020B0604020202020204" pitchFamily="34" charset="0"/>
              </a:rPr>
              <a:t>For</a:t>
            </a:r>
            <a:r>
              <a:rPr lang="en-IN" sz="1200" dirty="0">
                <a:solidFill>
                  <a:schemeClr val="tx1"/>
                </a:solidFill>
                <a:latin typeface="Arial" panose="020B0604020202020204" pitchFamily="34" charset="0"/>
                <a:cs typeface="Arial" panose="020B0604020202020204" pitchFamily="34" charset="0"/>
              </a:rPr>
              <a:t> </a:t>
            </a:r>
            <a:r>
              <a:rPr lang="en-IN" sz="1200" b="1" dirty="0">
                <a:solidFill>
                  <a:schemeClr val="tx1"/>
                </a:solidFill>
                <a:latin typeface="Arial" panose="020B0604020202020204" pitchFamily="34" charset="0"/>
                <a:cs typeface="Arial" panose="020B0604020202020204" pitchFamily="34" charset="0"/>
              </a:rPr>
              <a:t>Enhancement of this application</a:t>
            </a:r>
            <a:r>
              <a:rPr lang="en-IN" sz="1200" dirty="0">
                <a:solidFill>
                  <a:schemeClr val="tx1"/>
                </a:solidFill>
                <a:latin typeface="Arial" panose="020B0604020202020204" pitchFamily="34" charset="0"/>
                <a:cs typeface="Arial" panose="020B0604020202020204" pitchFamily="34" charset="0"/>
              </a:rPr>
              <a:t>, we will use consider </a:t>
            </a:r>
            <a:r>
              <a:rPr lang="en-IN" sz="1200" b="1" dirty="0">
                <a:solidFill>
                  <a:schemeClr val="tx1"/>
                </a:solidFill>
                <a:latin typeface="Arial" panose="020B0604020202020204" pitchFamily="34" charset="0"/>
                <a:cs typeface="Arial" panose="020B0604020202020204" pitchFamily="34" charset="0"/>
              </a:rPr>
              <a:t>Agile</a:t>
            </a:r>
            <a:r>
              <a:rPr lang="en-IN" sz="1200" dirty="0">
                <a:solidFill>
                  <a:schemeClr val="tx1"/>
                </a:solidFill>
                <a:latin typeface="Arial" panose="020B0604020202020204" pitchFamily="34" charset="0"/>
                <a:cs typeface="Arial" panose="020B0604020202020204" pitchFamily="34" charset="0"/>
              </a:rPr>
              <a:t> approach. In </a:t>
            </a:r>
            <a:r>
              <a:rPr lang="en-IN" sz="1200" b="1" dirty="0">
                <a:solidFill>
                  <a:schemeClr val="tx1"/>
                </a:solidFill>
                <a:latin typeface="Arial" panose="020B0604020202020204" pitchFamily="34" charset="0"/>
                <a:cs typeface="Arial" panose="020B0604020202020204" pitchFamily="34" charset="0"/>
              </a:rPr>
              <a:t>Agile, </a:t>
            </a:r>
            <a:r>
              <a:rPr lang="en-IN" sz="1200" dirty="0">
                <a:solidFill>
                  <a:schemeClr val="tx1"/>
                </a:solidFill>
                <a:latin typeface="Arial" panose="020B0604020202020204" pitchFamily="34" charset="0"/>
                <a:cs typeface="Arial" panose="020B0604020202020204" pitchFamily="34" charset="0"/>
              </a:rPr>
              <a:t>Delivery time is very high and it handle change at very last stages..</a:t>
            </a:r>
            <a:endParaRPr lang="en-IN" sz="1200" b="1" dirty="0">
              <a:solidFill>
                <a:schemeClr val="tx1"/>
              </a:solidFill>
              <a:latin typeface="Arial" panose="020B0604020202020204" pitchFamily="34" charset="0"/>
              <a:cs typeface="Arial" panose="020B0604020202020204" pitchFamily="34" charset="0"/>
            </a:endParaRP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We will follow SCRUM methodology which is used to manager software projects. It is an iterative development methodology. There are 5 events/ceremonies.</a:t>
            </a:r>
            <a:endParaRPr lang="en-IN" sz="1200"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SPRINT: </a:t>
            </a:r>
            <a:r>
              <a:rPr lang="en-IN" sz="1200" dirty="0">
                <a:solidFill>
                  <a:schemeClr val="tx1"/>
                </a:solidFill>
                <a:latin typeface="Arial" panose="020B0604020202020204" pitchFamily="34" charset="0"/>
                <a:cs typeface="Arial" panose="020B0604020202020204" pitchFamily="34" charset="0"/>
              </a:rPr>
              <a:t>It is a fixed time boxed iteration. It usually span from 2 to 4 week.</a:t>
            </a:r>
            <a:r>
              <a:rPr lang="en-IN" sz="1200" b="1" dirty="0">
                <a:solidFill>
                  <a:schemeClr val="tx1"/>
                </a:solidFill>
                <a:latin typeface="Arial" panose="020B0604020202020204" pitchFamily="34" charset="0"/>
                <a:cs typeface="Arial" panose="020B0604020202020204" pitchFamily="34" charset="0"/>
              </a:rPr>
              <a:t> </a:t>
            </a:r>
            <a:endParaRPr lang="en-IN" sz="1200"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Sprint Planning: </a:t>
            </a:r>
            <a:r>
              <a:rPr lang="en-IN" sz="1200" dirty="0">
                <a:solidFill>
                  <a:schemeClr val="tx1"/>
                </a:solidFill>
                <a:latin typeface="Arial" panose="020B0604020202020204" pitchFamily="34" charset="0"/>
                <a:cs typeface="Arial" panose="020B0604020202020204" pitchFamily="34" charset="0"/>
              </a:rPr>
              <a:t>This ceremony conducted at the beginning so that developers can pick the deliverable items (user stories) in upcoming sprint. Developers assigned story points to user stories.</a:t>
            </a:r>
            <a:endParaRPr lang="en-IN" sz="1200" b="1"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Daily Scrum (Meeting): </a:t>
            </a:r>
            <a:r>
              <a:rPr lang="en-IN" sz="1200" dirty="0">
                <a:solidFill>
                  <a:schemeClr val="tx1"/>
                </a:solidFill>
                <a:latin typeface="Arial" panose="020B0604020202020204" pitchFamily="34" charset="0"/>
                <a:cs typeface="Arial" panose="020B0604020202020204" pitchFamily="34" charset="0"/>
              </a:rPr>
              <a:t>It is a 15 minutes meeting with all developers so that scrum master has an update on user story progress. They also try to resolve an issue, if any developer is facing. Testing is also done during development.</a:t>
            </a:r>
          </a:p>
          <a:p>
            <a:pPr lvl="0" algn="l"/>
            <a:r>
              <a:rPr lang="en-IN" sz="1200" b="1" dirty="0">
                <a:solidFill>
                  <a:schemeClr val="tx1"/>
                </a:solidFill>
                <a:latin typeface="Arial" panose="020B0604020202020204" pitchFamily="34" charset="0"/>
                <a:cs typeface="Arial" panose="020B0604020202020204" pitchFamily="34" charset="0"/>
              </a:rPr>
              <a:t>Sprint Review: </a:t>
            </a:r>
            <a:r>
              <a:rPr lang="en-IN" sz="1200" dirty="0">
                <a:solidFill>
                  <a:schemeClr val="tx1"/>
                </a:solidFill>
                <a:latin typeface="Arial" panose="020B0604020202020204" pitchFamily="34" charset="0"/>
                <a:cs typeface="Arial" panose="020B0604020202020204" pitchFamily="34" charset="0"/>
              </a:rPr>
              <a:t>This meeting conducted after completing the Sprint. Developers presented working software to stakeholders.</a:t>
            </a:r>
            <a:endParaRPr lang="en-IN" sz="1200" b="1"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Sprint Retrospective: </a:t>
            </a:r>
            <a:r>
              <a:rPr lang="en-IN" sz="1200" dirty="0">
                <a:solidFill>
                  <a:schemeClr val="tx1"/>
                </a:solidFill>
                <a:latin typeface="Arial" panose="020B0604020202020204" pitchFamily="34" charset="0"/>
                <a:cs typeface="Arial" panose="020B0604020202020204" pitchFamily="34" charset="0"/>
              </a:rPr>
              <a:t>All Developer connected and discussed about what went well, what can improve. (Lessons from Previous one)</a:t>
            </a:r>
            <a:endParaRPr lang="en-IN" sz="1200" b="1"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Product Backlog: </a:t>
            </a:r>
            <a:r>
              <a:rPr lang="en-IN" sz="1200" dirty="0">
                <a:solidFill>
                  <a:schemeClr val="tx1"/>
                </a:solidFill>
                <a:latin typeface="Arial" panose="020B0604020202020204" pitchFamily="34" charset="0"/>
                <a:cs typeface="Arial" panose="020B0604020202020204" pitchFamily="34" charset="0"/>
              </a:rPr>
              <a:t>It has list of all the features/requirements which needs to be developed in an application.</a:t>
            </a:r>
            <a:endParaRPr lang="en-IN" sz="1200" b="1"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Sprint Backlog: </a:t>
            </a:r>
            <a:r>
              <a:rPr lang="en-IN" sz="1200" dirty="0">
                <a:solidFill>
                  <a:schemeClr val="tx1"/>
                </a:solidFill>
                <a:latin typeface="Arial" panose="020B0604020202020204" pitchFamily="34" charset="0"/>
                <a:cs typeface="Arial" panose="020B0604020202020204" pitchFamily="34" charset="0"/>
              </a:rPr>
              <a:t>It is a subset of product backlog items selected for a sprint.</a:t>
            </a:r>
          </a:p>
        </p:txBody>
      </p:sp>
    </p:spTree>
    <p:extLst>
      <p:ext uri="{BB962C8B-B14F-4D97-AF65-F5344CB8AC3E}">
        <p14:creationId xmlns:p14="http://schemas.microsoft.com/office/powerpoint/2010/main" val="2375220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B03DB-189D-7FAA-9EA8-83FE5D04C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0B5FFF-D1ED-08BF-A39C-FC8BF6F66145}"/>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Resources:</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76E070F7-5074-FA92-57ED-E72D638237F6}"/>
              </a:ext>
            </a:extLst>
          </p:cNvPr>
          <p:cNvSpPr>
            <a:spLocks noGrp="1"/>
          </p:cNvSpPr>
          <p:nvPr>
            <p:ph type="subTitle" idx="1"/>
          </p:nvPr>
        </p:nvSpPr>
        <p:spPr>
          <a:xfrm>
            <a:off x="800098" y="1288583"/>
            <a:ext cx="9397450" cy="4694774"/>
          </a:xfrm>
        </p:spPr>
        <p:txBody>
          <a:bodyPr>
            <a:noAutofit/>
          </a:bodyPr>
          <a:lstStyle/>
          <a:p>
            <a:pPr lvl="0" algn="l"/>
            <a:r>
              <a:rPr lang="en-IN" sz="1200" b="1" dirty="0">
                <a:solidFill>
                  <a:schemeClr val="tx1"/>
                </a:solidFill>
                <a:latin typeface="Arial" panose="020B0604020202020204" pitchFamily="34" charset="0"/>
                <a:cs typeface="Arial" panose="020B0604020202020204" pitchFamily="34" charset="0"/>
              </a:rPr>
              <a:t>People Resources:</a:t>
            </a:r>
          </a:p>
          <a:p>
            <a:pPr lvl="0" algn="l"/>
            <a:r>
              <a:rPr lang="en-IN" sz="1200" b="1" dirty="0">
                <a:solidFill>
                  <a:schemeClr val="tx1"/>
                </a:solidFill>
                <a:latin typeface="Arial" panose="020B0604020202020204" pitchFamily="34" charset="0"/>
                <a:cs typeface="Arial" panose="020B0604020202020204" pitchFamily="34" charset="0"/>
              </a:rPr>
              <a:t>Agile team members:</a:t>
            </a:r>
            <a:r>
              <a:rPr lang="en-IN" sz="1200" dirty="0">
                <a:solidFill>
                  <a:schemeClr val="tx1"/>
                </a:solidFill>
                <a:latin typeface="Arial" panose="020B0604020202020204" pitchFamily="34" charset="0"/>
                <a:cs typeface="Arial" panose="020B0604020202020204" pitchFamily="34" charset="0"/>
              </a:rPr>
              <a:t> </a:t>
            </a:r>
          </a:p>
          <a:p>
            <a:pPr marL="171450" lvl="0" indent="-171450" algn="l">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A Scrum Master, Business Analyst, Developers, and Testers will work together on the project.</a:t>
            </a:r>
          </a:p>
          <a:p>
            <a:pPr lvl="0" algn="l"/>
            <a:r>
              <a:rPr lang="en-IN" sz="1200" b="1" dirty="0">
                <a:solidFill>
                  <a:schemeClr val="tx1"/>
                </a:solidFill>
                <a:latin typeface="Arial" panose="020B0604020202020204" pitchFamily="34" charset="0"/>
                <a:cs typeface="Arial" panose="020B0604020202020204" pitchFamily="34" charset="0"/>
              </a:rPr>
              <a:t>Workday experts:</a:t>
            </a:r>
          </a:p>
          <a:p>
            <a:pPr marL="171450" lvl="0" indent="-171450" algn="l">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People who understand the Workday HR system will guide the enhancements.</a:t>
            </a:r>
          </a:p>
          <a:p>
            <a:pPr lvl="0" algn="l"/>
            <a:r>
              <a:rPr lang="en-IN" sz="1200" b="1" dirty="0">
                <a:solidFill>
                  <a:schemeClr val="tx1"/>
                </a:solidFill>
                <a:latin typeface="Arial" panose="020B0604020202020204" pitchFamily="34" charset="0"/>
                <a:cs typeface="Arial" panose="020B0604020202020204" pitchFamily="34" charset="0"/>
              </a:rPr>
              <a:t>Payroll specialists:</a:t>
            </a:r>
          </a:p>
          <a:p>
            <a:pPr marL="171450" lvl="0" indent="-171450" algn="l">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They will make sure payouts and salary updates are handled correctly.</a:t>
            </a:r>
          </a:p>
          <a:p>
            <a:pPr lvl="0" algn="l"/>
            <a:r>
              <a:rPr lang="en-IN" sz="1200" b="1" dirty="0">
                <a:solidFill>
                  <a:schemeClr val="tx1"/>
                </a:solidFill>
                <a:latin typeface="Arial" panose="020B0604020202020204" pitchFamily="34" charset="0"/>
                <a:cs typeface="Arial" panose="020B0604020202020204" pitchFamily="34" charset="0"/>
              </a:rPr>
              <a:t>HR staff and employees:</a:t>
            </a:r>
          </a:p>
          <a:p>
            <a:pPr marL="171450" lvl="0" indent="-171450" algn="l">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They will give feedback during testing to ensure the system meets real needs.</a:t>
            </a:r>
          </a:p>
          <a:p>
            <a:pPr marL="171450" lvl="0" indent="-171450" algn="l">
              <a:buFont typeface="Arial" panose="020B0604020202020204" pitchFamily="34" charset="0"/>
              <a:buChar char="•"/>
            </a:pPr>
            <a:endParaRPr lang="en-IN" sz="1200"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Timeline:</a:t>
            </a:r>
            <a:r>
              <a:rPr lang="en-IN" sz="1200" dirty="0">
                <a:solidFill>
                  <a:schemeClr val="tx1"/>
                </a:solidFill>
                <a:latin typeface="Arial" panose="020B0604020202020204" pitchFamily="34" charset="0"/>
                <a:cs typeface="Arial" panose="020B0604020202020204" pitchFamily="34" charset="0"/>
              </a:rPr>
              <a:t> Estimated Time 3 Months</a:t>
            </a:r>
          </a:p>
          <a:p>
            <a:pPr lvl="0" algn="l"/>
            <a:endParaRPr lang="en-IN" sz="1200" b="1"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Budget: </a:t>
            </a:r>
            <a:r>
              <a:rPr lang="en-IN" sz="1200" dirty="0">
                <a:solidFill>
                  <a:schemeClr val="tx1"/>
                </a:solidFill>
                <a:latin typeface="Arial" panose="020B0604020202020204" pitchFamily="34" charset="0"/>
                <a:cs typeface="Arial" panose="020B0604020202020204" pitchFamily="34" charset="0"/>
              </a:rPr>
              <a:t>Estimated Budget 50 Lakh INR</a:t>
            </a:r>
          </a:p>
          <a:p>
            <a:pPr lvl="0" algn="l"/>
            <a:endParaRPr lang="en-IN" sz="1200" b="1" dirty="0">
              <a:solidFill>
                <a:schemeClr val="tx1"/>
              </a:solidFill>
              <a:latin typeface="Arial" panose="020B0604020202020204" pitchFamily="34" charset="0"/>
              <a:cs typeface="Arial" panose="020B0604020202020204" pitchFamily="34" charset="0"/>
            </a:endParaRPr>
          </a:p>
          <a:p>
            <a:pPr lvl="0" algn="l"/>
            <a:r>
              <a:rPr lang="en-IN" sz="1200" b="1" dirty="0">
                <a:solidFill>
                  <a:schemeClr val="tx1"/>
                </a:solidFill>
                <a:latin typeface="Arial" panose="020B0604020202020204" pitchFamily="34" charset="0"/>
                <a:cs typeface="Arial" panose="020B0604020202020204" pitchFamily="34" charset="0"/>
              </a:rPr>
              <a:t>Other Resources:</a:t>
            </a:r>
          </a:p>
          <a:p>
            <a:pPr algn="l">
              <a:spcBef>
                <a:spcPts val="0"/>
              </a:spcBef>
            </a:pPr>
            <a:r>
              <a:rPr lang="en-IN" sz="1200" b="1" dirty="0">
                <a:solidFill>
                  <a:schemeClr val="tx1"/>
                </a:solidFill>
                <a:latin typeface="Arial" panose="020B0604020202020204" pitchFamily="34" charset="0"/>
                <a:cs typeface="Arial" panose="020B0604020202020204" pitchFamily="34" charset="0"/>
              </a:rPr>
              <a:t> Hardware:</a:t>
            </a:r>
            <a:r>
              <a:rPr lang="en-IN" sz="1200" dirty="0">
                <a:solidFill>
                  <a:schemeClr val="tx1"/>
                </a:solidFill>
                <a:latin typeface="Arial" panose="020B0604020202020204" pitchFamily="34" charset="0"/>
                <a:cs typeface="Arial" panose="020B0604020202020204" pitchFamily="34" charset="0"/>
              </a:rPr>
              <a:t> Dedicated servers for hosting the application and database. Also, focus on Backup and Business Continuity Plan.</a:t>
            </a:r>
          </a:p>
          <a:p>
            <a:pPr algn="l">
              <a:spcBef>
                <a:spcPts val="0"/>
              </a:spcBef>
            </a:pPr>
            <a:r>
              <a:rPr lang="en-IN" sz="1200" dirty="0">
                <a:solidFill>
                  <a:schemeClr val="tx1"/>
                </a:solidFill>
                <a:latin typeface="Arial" panose="020B0604020202020204" pitchFamily="34" charset="0"/>
                <a:cs typeface="Arial" panose="020B0604020202020204" pitchFamily="34" charset="0"/>
              </a:rPr>
              <a:t> </a:t>
            </a:r>
            <a:r>
              <a:rPr lang="en-IN" sz="1200" b="1" dirty="0">
                <a:solidFill>
                  <a:schemeClr val="tx1"/>
                </a:solidFill>
                <a:latin typeface="Arial" panose="020B0604020202020204" pitchFamily="34" charset="0"/>
                <a:cs typeface="Arial" panose="020B0604020202020204" pitchFamily="34" charset="0"/>
              </a:rPr>
              <a:t>Software:</a:t>
            </a:r>
            <a:r>
              <a:rPr lang="en-IN" sz="1200" dirty="0">
                <a:solidFill>
                  <a:schemeClr val="tx1"/>
                </a:solidFill>
                <a:latin typeface="Arial" panose="020B0604020202020204" pitchFamily="34" charset="0"/>
                <a:cs typeface="Arial" panose="020B0604020202020204" pitchFamily="34" charset="0"/>
              </a:rPr>
              <a:t> Development tools (Database Tools, Java IDEs), Automated E-mail parsing tools.</a:t>
            </a:r>
          </a:p>
          <a:p>
            <a:pPr algn="l">
              <a:spcBef>
                <a:spcPts val="0"/>
              </a:spcBef>
            </a:pPr>
            <a:r>
              <a:rPr lang="en-IN" sz="1200" dirty="0">
                <a:solidFill>
                  <a:schemeClr val="tx1"/>
                </a:solidFill>
                <a:latin typeface="Arial" panose="020B0604020202020204" pitchFamily="34" charset="0"/>
                <a:cs typeface="Arial" panose="020B0604020202020204" pitchFamily="34" charset="0"/>
              </a:rPr>
              <a:t> </a:t>
            </a:r>
            <a:r>
              <a:rPr lang="en-IN" sz="1200" b="1" dirty="0">
                <a:solidFill>
                  <a:schemeClr val="tx1"/>
                </a:solidFill>
                <a:latin typeface="Arial" panose="020B0604020202020204" pitchFamily="34" charset="0"/>
                <a:cs typeface="Arial" panose="020B0604020202020204" pitchFamily="34" charset="0"/>
              </a:rPr>
              <a:t>Network: </a:t>
            </a:r>
            <a:r>
              <a:rPr lang="en-IN" sz="1200" dirty="0">
                <a:solidFill>
                  <a:schemeClr val="tx1"/>
                </a:solidFill>
                <a:latin typeface="Arial" panose="020B0604020202020204" pitchFamily="34" charset="0"/>
                <a:cs typeface="Arial" panose="020B0604020202020204" pitchFamily="34" charset="0"/>
              </a:rPr>
              <a:t>High- speed internet connection, VPN or secure email gateway.</a:t>
            </a:r>
            <a:endParaRPr lang="en-IN" sz="1200" b="1" dirty="0">
              <a:solidFill>
                <a:schemeClr val="tx1"/>
              </a:solidFill>
              <a:latin typeface="Arial" panose="020B0604020202020204" pitchFamily="34" charset="0"/>
              <a:cs typeface="Arial" panose="020B0604020202020204" pitchFamily="34" charset="0"/>
            </a:endParaRPr>
          </a:p>
          <a:p>
            <a:pPr lvl="0" algn="l"/>
            <a:endParaRPr lang="en-IN" sz="12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542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340A1-9F52-AF84-C46F-1C39BB508F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49EE9-A1E8-7BDF-A91B-0908BDA29977}"/>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Risk:</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06B6D253-615D-984F-BBB4-2AE027335FDE}"/>
              </a:ext>
            </a:extLst>
          </p:cNvPr>
          <p:cNvSpPr>
            <a:spLocks noGrp="1"/>
          </p:cNvSpPr>
          <p:nvPr>
            <p:ph type="subTitle" idx="1"/>
          </p:nvPr>
        </p:nvSpPr>
        <p:spPr>
          <a:xfrm>
            <a:off x="800098" y="1288583"/>
            <a:ext cx="8820151" cy="4843860"/>
          </a:xfrm>
        </p:spPr>
        <p:txBody>
          <a:bodyPr>
            <a:normAutofit/>
          </a:bodyPr>
          <a:lstStyle/>
          <a:p>
            <a:pPr algn="l">
              <a:lnSpc>
                <a:spcPct val="150000"/>
              </a:lnSpc>
            </a:pPr>
            <a:r>
              <a:rPr lang="en-IN" sz="1200" b="1" dirty="0">
                <a:solidFill>
                  <a:schemeClr val="tx1"/>
                </a:solidFill>
                <a:latin typeface="Arial" panose="020B0604020202020204" pitchFamily="34" charset="0"/>
                <a:cs typeface="Arial" panose="020B0604020202020204" pitchFamily="34" charset="0"/>
              </a:rPr>
              <a:t>Unwillingness to adapt:</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Some employees may not want to use the new system at first because they are used to the old way of working.</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Integration issues:</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There could be problems when connecting Workday with payroll or other systems, which might cause delays.</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Approval delays:</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If managers or HR do not approve changes quickly, the project could slow down.</a:t>
            </a:r>
          </a:p>
        </p:txBody>
      </p:sp>
    </p:spTree>
    <p:extLst>
      <p:ext uri="{BB962C8B-B14F-4D97-AF65-F5344CB8AC3E}">
        <p14:creationId xmlns:p14="http://schemas.microsoft.com/office/powerpoint/2010/main" val="1708598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80A8F-95A6-1890-470E-3DE2761A9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D81EF-831E-C88D-6206-B47602CCD8AF}"/>
              </a:ext>
            </a:extLst>
          </p:cNvPr>
          <p:cNvSpPr>
            <a:spLocks noGrp="1"/>
          </p:cNvSpPr>
          <p:nvPr>
            <p:ph type="ctrTitle"/>
          </p:nvPr>
        </p:nvSpPr>
        <p:spPr>
          <a:xfrm>
            <a:off x="800099" y="350901"/>
            <a:ext cx="8582025" cy="830785"/>
          </a:xfrm>
        </p:spPr>
        <p:txBody>
          <a:bodyPr>
            <a:normAutofit fontScale="90000"/>
          </a:bodyPr>
          <a:lstStyle/>
          <a:p>
            <a:pPr algn="l"/>
            <a:r>
              <a:rPr lang="en-US" dirty="0">
                <a:solidFill>
                  <a:schemeClr val="tx1"/>
                </a:solidFill>
                <a:latin typeface="Arial" panose="020B0604020202020204" pitchFamily="34" charset="0"/>
                <a:cs typeface="Arial" panose="020B0604020202020204" pitchFamily="34" charset="0"/>
              </a:rPr>
              <a:t>Dependencies:</a:t>
            </a:r>
            <a:endParaRPr lang="en-IN" dirty="0">
              <a:solidFill>
                <a:schemeClr val="tx1"/>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63F1CF81-33EF-7A2D-69D6-5286A06AA0F5}"/>
              </a:ext>
            </a:extLst>
          </p:cNvPr>
          <p:cNvSpPr>
            <a:spLocks noGrp="1"/>
          </p:cNvSpPr>
          <p:nvPr>
            <p:ph type="subTitle" idx="1"/>
          </p:nvPr>
        </p:nvSpPr>
        <p:spPr>
          <a:xfrm>
            <a:off x="800098" y="1181686"/>
            <a:ext cx="8820151" cy="4732096"/>
          </a:xfrm>
        </p:spPr>
        <p:txBody>
          <a:bodyPr>
            <a:normAutofit/>
          </a:bodyPr>
          <a:lstStyle/>
          <a:p>
            <a:pPr lvl="0" algn="l">
              <a:lnSpc>
                <a:spcPct val="150000"/>
              </a:lnSpc>
            </a:pPr>
            <a:r>
              <a:rPr lang="en-IN" sz="1200" b="1" dirty="0">
                <a:solidFill>
                  <a:schemeClr val="tx1"/>
                </a:solidFill>
                <a:latin typeface="Arial" panose="020B0604020202020204" pitchFamily="34" charset="0"/>
                <a:cs typeface="Arial" panose="020B0604020202020204" pitchFamily="34" charset="0"/>
              </a:rPr>
              <a:t>Workday platform updates:</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The project depends on Workday’s system being updated and ready for new features.</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Payroll system compatibility:</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The payroll system must connect properly with Workday so payouts and salaries are handled correctly.</a:t>
            </a:r>
          </a:p>
          <a:p>
            <a:pPr lvl="0" algn="l">
              <a:lnSpc>
                <a:spcPct val="150000"/>
              </a:lnSpc>
            </a:pPr>
            <a:r>
              <a:rPr lang="en-IN" sz="1200" b="1" dirty="0">
                <a:solidFill>
                  <a:schemeClr val="tx1"/>
                </a:solidFill>
                <a:latin typeface="Arial" panose="020B0604020202020204" pitchFamily="34" charset="0"/>
                <a:cs typeface="Arial" panose="020B0604020202020204" pitchFamily="34" charset="0"/>
              </a:rPr>
              <a:t>HR policy approvals:</a:t>
            </a:r>
            <a:r>
              <a:rPr lang="en-IN" sz="1200" dirty="0">
                <a:solidFill>
                  <a:schemeClr val="tx1"/>
                </a:solidFill>
                <a:latin typeface="Arial" panose="020B0604020202020204" pitchFamily="34" charset="0"/>
                <a:cs typeface="Arial" panose="020B0604020202020204" pitchFamily="34" charset="0"/>
              </a:rPr>
              <a:t> </a:t>
            </a:r>
          </a:p>
          <a:p>
            <a:pPr marL="171450" lvl="0" indent="-171450" algn="l">
              <a:lnSpc>
                <a:spcPct val="150000"/>
              </a:lnSpc>
              <a:buFont typeface="Arial" panose="020B0604020202020204" pitchFamily="34" charset="0"/>
              <a:buChar char="•"/>
            </a:pPr>
            <a:r>
              <a:rPr lang="en-IN" sz="1200" dirty="0">
                <a:solidFill>
                  <a:schemeClr val="tx1"/>
                </a:solidFill>
                <a:latin typeface="Arial" panose="020B0604020202020204" pitchFamily="34" charset="0"/>
                <a:cs typeface="Arial" panose="020B0604020202020204" pitchFamily="34" charset="0"/>
              </a:rPr>
              <a:t>HR policies and rules must allow the changes, otherwise the enhancements cannot be used.</a:t>
            </a:r>
          </a:p>
        </p:txBody>
      </p:sp>
    </p:spTree>
    <p:extLst>
      <p:ext uri="{BB962C8B-B14F-4D97-AF65-F5344CB8AC3E}">
        <p14:creationId xmlns:p14="http://schemas.microsoft.com/office/powerpoint/2010/main" val="958596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723E-FB39-34D5-062E-826106295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2EF9B-BD1E-77A8-E826-426BE60FED37}"/>
              </a:ext>
            </a:extLst>
          </p:cNvPr>
          <p:cNvSpPr>
            <a:spLocks noGrp="1"/>
          </p:cNvSpPr>
          <p:nvPr>
            <p:ph type="ctrTitle"/>
          </p:nvPr>
        </p:nvSpPr>
        <p:spPr>
          <a:xfrm>
            <a:off x="740465" y="2598215"/>
            <a:ext cx="8582025" cy="830785"/>
          </a:xfrm>
        </p:spPr>
        <p:txBody>
          <a:bodyPr>
            <a:normAutofit fontScale="90000"/>
          </a:bodyPr>
          <a:lstStyle/>
          <a:p>
            <a:pPr algn="ctr"/>
            <a:r>
              <a:rPr lang="en-IN"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24720418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9844</TotalTime>
  <Words>1197</Words>
  <Application>Microsoft Office PowerPoint</Application>
  <PresentationFormat>Widescreen</PresentationFormat>
  <Paragraphs>97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Trebuchet MS</vt:lpstr>
      <vt:lpstr>Wingdings</vt:lpstr>
      <vt:lpstr>Wingdings 3</vt:lpstr>
      <vt:lpstr>Facet</vt:lpstr>
      <vt:lpstr>Project Name: FIS Workday (Enhancement)</vt:lpstr>
      <vt:lpstr>Situation:</vt:lpstr>
      <vt:lpstr>Problem:</vt:lpstr>
      <vt:lpstr>Opportunity:</vt:lpstr>
      <vt:lpstr>Goals:</vt:lpstr>
      <vt:lpstr>Project Objectives:</vt:lpstr>
      <vt:lpstr>Success Criteria:</vt:lpstr>
      <vt:lpstr>Method/Approach:</vt:lpstr>
      <vt:lpstr>Resources:</vt:lpstr>
      <vt:lpstr>Risk:</vt:lpstr>
      <vt:lpstr>Dependencies:</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Chaudhary</dc:creator>
  <cp:lastModifiedBy>Akash Chaudhary</cp:lastModifiedBy>
  <cp:revision>22</cp:revision>
  <cp:lastPrinted>2026-08-03T02:33:51Z</cp:lastPrinted>
  <dcterms:created xsi:type="dcterms:W3CDTF">2026-07-01T03:06:45Z</dcterms:created>
  <dcterms:modified xsi:type="dcterms:W3CDTF">2026-08-03T09:53:26Z</dcterms:modified>
</cp:coreProperties>
</file>